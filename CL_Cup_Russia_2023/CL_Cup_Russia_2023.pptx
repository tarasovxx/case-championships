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Arial Black" panose="020B0A04020102020204" pitchFamily="34" charset="0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822" userDrawn="1">
          <p15:clr>
            <a:srgbClr val="A4A3A4"/>
          </p15:clr>
        </p15:guide>
        <p15:guide id="2" pos="211">
          <p15:clr>
            <a:srgbClr val="A4A3A4"/>
          </p15:clr>
        </p15:guide>
        <p15:guide id="3" pos="7469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gdsuhOpBO+AD0E7QCPBOx95H+6f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ользователь Windows" initials="ПW" lastIdx="2" clrIdx="0">
    <p:extLst>
      <p:ext uri="{19B8F6BF-5375-455C-9EA6-DF929625EA0E}">
        <p15:presenceInfo xmlns:p15="http://schemas.microsoft.com/office/powerpoint/2012/main" userId="738bd56006dcc8b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FEF"/>
    <a:srgbClr val="323232"/>
    <a:srgbClr val="E3E3E3"/>
    <a:srgbClr val="B6B6B6"/>
    <a:srgbClr val="979797"/>
    <a:srgbClr val="929292"/>
    <a:srgbClr val="555555"/>
    <a:srgbClr val="565656"/>
    <a:srgbClr val="222222"/>
    <a:srgbClr val="E00E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979" autoAdjust="0"/>
  </p:normalViewPr>
  <p:slideViewPr>
    <p:cSldViewPr snapToGrid="0">
      <p:cViewPr varScale="1">
        <p:scale>
          <a:sx n="82" d="100"/>
          <a:sy n="82" d="100"/>
        </p:scale>
        <p:origin x="158" y="72"/>
      </p:cViewPr>
      <p:guideLst>
        <p:guide orient="horz" pos="822"/>
        <p:guide pos="211"/>
        <p:guide pos="74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customschemas.google.com/relationships/presentationmetadata" Target="meta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600" b="1" dirty="0"/>
              <a:t>Распределение по цене</a:t>
            </a:r>
          </a:p>
        </c:rich>
      </c:tx>
      <c:layout>
        <c:manualLayout>
          <c:xMode val="edge"/>
          <c:yMode val="edge"/>
          <c:x val="0.19691720672547261"/>
          <c:y val="4.25865815382139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Распределение по цене</c:v>
                </c:pt>
              </c:strCache>
            </c:strRef>
          </c:tx>
          <c:dPt>
            <c:idx val="0"/>
            <c:bubble3D val="0"/>
            <c:spPr>
              <a:solidFill>
                <a:schemeClr val="tx1">
                  <a:lumMod val="95000"/>
                  <a:lumOff val="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BAA-4E39-9E3E-846759EDA7B8}"/>
              </c:ext>
            </c:extLst>
          </c:dPt>
          <c:dPt>
            <c:idx val="1"/>
            <c:bubble3D val="0"/>
            <c:spPr>
              <a:solidFill>
                <a:srgbClr val="A5A5A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7BAA-4E39-9E3E-846759EDA7B8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BAA-4E39-9E3E-846759EDA7B8}"/>
              </c:ext>
            </c:extLst>
          </c:dPt>
          <c:dPt>
            <c:idx val="3"/>
            <c:bubble3D val="0"/>
            <c:spPr>
              <a:solidFill>
                <a:schemeClr val="accent1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B23-41AB-B314-1936BC669E1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52-135</c:v>
                </c:pt>
                <c:pt idx="1">
                  <c:v>137-220</c:v>
                </c:pt>
                <c:pt idx="2">
                  <c:v>220-574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37</c:v>
                </c:pt>
                <c:pt idx="1">
                  <c:v>47</c:v>
                </c:pt>
                <c:pt idx="2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AA-4E39-9E3E-846759EDA7B8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4-10T01:09:15.367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  <p:cm authorId="1" dt="2023-04-10T01:09:15.549" idx="2">
    <p:pos x="146" y="146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5" name="Google Shape;11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0" name="Google Shape;48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9" name="Google Shape;54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22" name="Google Shape;22;p13"/>
          <p:cNvCxnSpPr/>
          <p:nvPr/>
        </p:nvCxnSpPr>
        <p:spPr>
          <a:xfrm>
            <a:off x="350108" y="6449463"/>
            <a:ext cx="322561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-команда">
  <p:cSld name="Слайд-команда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6" name="Google Shape;26;p14"/>
          <p:cNvSpPr>
            <a:spLocks noGrp="1"/>
          </p:cNvSpPr>
          <p:nvPr>
            <p:ph type="pic" idx="2"/>
          </p:nvPr>
        </p:nvSpPr>
        <p:spPr>
          <a:xfrm>
            <a:off x="796904" y="1357729"/>
            <a:ext cx="1824435" cy="22340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7" name="Google Shape;27;p14"/>
          <p:cNvSpPr>
            <a:spLocks noGrp="1"/>
          </p:cNvSpPr>
          <p:nvPr>
            <p:ph type="pic" idx="3"/>
          </p:nvPr>
        </p:nvSpPr>
        <p:spPr>
          <a:xfrm>
            <a:off x="3748699" y="1357729"/>
            <a:ext cx="1824435" cy="22340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8" name="Google Shape;28;p14"/>
          <p:cNvSpPr>
            <a:spLocks noGrp="1"/>
          </p:cNvSpPr>
          <p:nvPr>
            <p:ph type="pic" idx="4"/>
          </p:nvPr>
        </p:nvSpPr>
        <p:spPr>
          <a:xfrm>
            <a:off x="6624600" y="1357729"/>
            <a:ext cx="1824435" cy="22340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9" name="Google Shape;29;p14"/>
          <p:cNvSpPr>
            <a:spLocks noGrp="1"/>
          </p:cNvSpPr>
          <p:nvPr>
            <p:ph type="pic" idx="5"/>
          </p:nvPr>
        </p:nvSpPr>
        <p:spPr>
          <a:xfrm>
            <a:off x="9576395" y="1357729"/>
            <a:ext cx="1824435" cy="22340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cxnSp>
        <p:nvCxnSpPr>
          <p:cNvPr id="30" name="Google Shape;30;p14"/>
          <p:cNvCxnSpPr/>
          <p:nvPr/>
        </p:nvCxnSpPr>
        <p:spPr>
          <a:xfrm>
            <a:off x="334967" y="1248292"/>
            <a:ext cx="11521826" cy="0"/>
          </a:xfrm>
          <a:prstGeom prst="straightConnector1">
            <a:avLst/>
          </a:prstGeom>
          <a:noFill/>
          <a:ln w="2540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37" name="Google Shape;37;p15"/>
          <p:cNvCxnSpPr/>
          <p:nvPr/>
        </p:nvCxnSpPr>
        <p:spPr>
          <a:xfrm>
            <a:off x="334967" y="1248292"/>
            <a:ext cx="11521826" cy="0"/>
          </a:xfrm>
          <a:prstGeom prst="straightConnector1">
            <a:avLst/>
          </a:prstGeom>
          <a:noFill/>
          <a:ln w="2540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44" name="Google Shape;44;p16"/>
          <p:cNvCxnSpPr/>
          <p:nvPr/>
        </p:nvCxnSpPr>
        <p:spPr>
          <a:xfrm>
            <a:off x="334967" y="1248292"/>
            <a:ext cx="11521826" cy="0"/>
          </a:xfrm>
          <a:prstGeom prst="straightConnector1">
            <a:avLst/>
          </a:prstGeom>
          <a:noFill/>
          <a:ln w="2540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52" name="Google Shape;52;p17"/>
          <p:cNvCxnSpPr/>
          <p:nvPr/>
        </p:nvCxnSpPr>
        <p:spPr>
          <a:xfrm>
            <a:off x="334967" y="1248292"/>
            <a:ext cx="11521826" cy="0"/>
          </a:xfrm>
          <a:prstGeom prst="straightConnector1">
            <a:avLst/>
          </a:prstGeom>
          <a:noFill/>
          <a:ln w="2540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62" name="Google Shape;62;p18"/>
          <p:cNvCxnSpPr/>
          <p:nvPr/>
        </p:nvCxnSpPr>
        <p:spPr>
          <a:xfrm>
            <a:off x="334967" y="1248292"/>
            <a:ext cx="11521826" cy="0"/>
          </a:xfrm>
          <a:prstGeom prst="straightConnector1">
            <a:avLst/>
          </a:prstGeom>
          <a:noFill/>
          <a:ln w="2540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68" name="Google Shape;68;p19"/>
          <p:cNvCxnSpPr/>
          <p:nvPr/>
        </p:nvCxnSpPr>
        <p:spPr>
          <a:xfrm>
            <a:off x="334967" y="1248292"/>
            <a:ext cx="11521826" cy="0"/>
          </a:xfrm>
          <a:prstGeom prst="straightConnector1">
            <a:avLst/>
          </a:prstGeom>
          <a:noFill/>
          <a:ln w="2540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73" name="Google Shape;73;p20"/>
          <p:cNvCxnSpPr/>
          <p:nvPr/>
        </p:nvCxnSpPr>
        <p:spPr>
          <a:xfrm>
            <a:off x="334967" y="1248292"/>
            <a:ext cx="11521826" cy="0"/>
          </a:xfrm>
          <a:prstGeom prst="straightConnector1">
            <a:avLst/>
          </a:prstGeom>
          <a:noFill/>
          <a:ln w="2540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81" name="Google Shape;81;p21"/>
          <p:cNvCxnSpPr/>
          <p:nvPr/>
        </p:nvCxnSpPr>
        <p:spPr>
          <a:xfrm>
            <a:off x="334967" y="1248292"/>
            <a:ext cx="11521826" cy="0"/>
          </a:xfrm>
          <a:prstGeom prst="straightConnector1">
            <a:avLst/>
          </a:prstGeom>
          <a:noFill/>
          <a:ln w="2540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89" name="Google Shape;89;p22"/>
          <p:cNvCxnSpPr/>
          <p:nvPr/>
        </p:nvCxnSpPr>
        <p:spPr>
          <a:xfrm>
            <a:off x="334967" y="1248292"/>
            <a:ext cx="11521826" cy="0"/>
          </a:xfrm>
          <a:prstGeom prst="straightConnector1">
            <a:avLst/>
          </a:prstGeom>
          <a:noFill/>
          <a:ln w="2540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4" name="Google Shape;14;p12"/>
          <p:cNvCxnSpPr/>
          <p:nvPr/>
        </p:nvCxnSpPr>
        <p:spPr>
          <a:xfrm>
            <a:off x="334967" y="1248292"/>
            <a:ext cx="11521826" cy="0"/>
          </a:xfrm>
          <a:prstGeom prst="straightConnector1">
            <a:avLst/>
          </a:prstGeom>
          <a:noFill/>
          <a:ln w="2540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" name="Google Shape;1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0CD469-985E-452D-A23F-D7FCCADE2D71}"/>
              </a:ext>
            </a:extLst>
          </p:cNvPr>
          <p:cNvSpPr txBox="1"/>
          <p:nvPr/>
        </p:nvSpPr>
        <p:spPr>
          <a:xfrm>
            <a:off x="4436032" y="5143855"/>
            <a:ext cx="6899074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1" algn="r"/>
            <a:r>
              <a:rPr lang="ru-RU" sz="20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ontserrat" charset="0"/>
                <a:cs typeface="Arial" panose="020B0604020202020204" pitchFamily="34" charset="0"/>
              </a:rPr>
              <a:t>Гузенко Сергей</a:t>
            </a:r>
            <a:br>
              <a:rPr lang="ru-RU" sz="20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ontserrat" charset="0"/>
                <a:cs typeface="Arial" panose="020B0604020202020204" pitchFamily="34" charset="0"/>
              </a:rPr>
            </a:br>
            <a:r>
              <a:rPr lang="ru-RU" sz="20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ontserrat" charset="0"/>
                <a:cs typeface="Arial" panose="020B0604020202020204" pitchFamily="34" charset="0"/>
              </a:rPr>
              <a:t>Кудинов Владислав</a:t>
            </a:r>
            <a:br>
              <a:rPr lang="ru-RU" sz="20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ontserrat" charset="0"/>
                <a:cs typeface="Arial" panose="020B0604020202020204" pitchFamily="34" charset="0"/>
              </a:rPr>
            </a:br>
            <a:r>
              <a:rPr lang="ru-RU" sz="20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ontserrat" charset="0"/>
                <a:cs typeface="Arial" panose="020B0604020202020204" pitchFamily="34" charset="0"/>
              </a:rPr>
              <a:t>Тарасов Артем</a:t>
            </a:r>
            <a:br>
              <a:rPr lang="ru-RU" sz="20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ontserrat" charset="0"/>
                <a:cs typeface="Arial" panose="020B0604020202020204" pitchFamily="34" charset="0"/>
              </a:rPr>
            </a:br>
            <a:r>
              <a:rPr lang="ru-RU" sz="2000" spc="-1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ontserrat" charset="0"/>
                <a:cs typeface="Arial" panose="020B0604020202020204" pitchFamily="34" charset="0"/>
              </a:rPr>
              <a:t>Аргасова</a:t>
            </a:r>
            <a:r>
              <a:rPr lang="ru-RU" sz="20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ontserrat" charset="0"/>
                <a:cs typeface="Arial" panose="020B0604020202020204" pitchFamily="34" charset="0"/>
              </a:rPr>
              <a:t> Диана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0CD469-985E-452D-A23F-D7FCCADE2D71}"/>
              </a:ext>
            </a:extLst>
          </p:cNvPr>
          <p:cNvSpPr txBox="1"/>
          <p:nvPr/>
        </p:nvSpPr>
        <p:spPr>
          <a:xfrm>
            <a:off x="3647425" y="2865648"/>
            <a:ext cx="7687681" cy="19504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1" algn="r">
              <a:lnSpc>
                <a:spcPts val="7200"/>
              </a:lnSpc>
            </a:pPr>
            <a:r>
              <a:rPr lang="ru-RU" sz="8300" spc="-600" dirty="0">
                <a:solidFill>
                  <a:srgbClr val="FF0000"/>
                </a:solidFill>
                <a:latin typeface="Arial" panose="020B0604020202020204" pitchFamily="34" charset="0"/>
                <a:ea typeface="Montserrat" charset="0"/>
                <a:cs typeface="Arial" panose="020B0604020202020204" pitchFamily="34" charset="0"/>
              </a:rPr>
              <a:t>от команды</a:t>
            </a:r>
            <a:br>
              <a:rPr lang="ru-RU" sz="8300" spc="-600" dirty="0">
                <a:solidFill>
                  <a:srgbClr val="FF0000"/>
                </a:solidFill>
                <a:latin typeface="Arial" panose="020B0604020202020204" pitchFamily="34" charset="0"/>
                <a:ea typeface="Montserrat" charset="0"/>
                <a:cs typeface="Arial" panose="020B0604020202020204" pitchFamily="34" charset="0"/>
              </a:rPr>
            </a:br>
            <a:r>
              <a:rPr lang="en-US" sz="8300" spc="-600" dirty="0">
                <a:solidFill>
                  <a:srgbClr val="FF0000"/>
                </a:solidFill>
                <a:latin typeface="Arial" panose="020B0604020202020204" pitchFamily="34" charset="0"/>
                <a:ea typeface="Montserrat" charset="0"/>
                <a:cs typeface="Arial" panose="020B0604020202020204" pitchFamily="34" charset="0"/>
              </a:rPr>
              <a:t>Collective Crew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0CD469-985E-452D-A23F-D7FCCADE2D71}"/>
              </a:ext>
            </a:extLst>
          </p:cNvPr>
          <p:cNvSpPr txBox="1"/>
          <p:nvPr/>
        </p:nvSpPr>
        <p:spPr>
          <a:xfrm>
            <a:off x="171758" y="1971763"/>
            <a:ext cx="14304579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1" algn="ctr"/>
            <a:r>
              <a:rPr lang="ru-RU" sz="7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Montserrat" charset="0"/>
                <a:cs typeface="Arial" panose="020B0604020202020204" pitchFamily="34" charset="0"/>
              </a:rPr>
              <a:t>Решение кейса</a:t>
            </a:r>
            <a:endParaRPr lang="en-US" sz="7200" spc="-150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  <a:ea typeface="Montserrat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/>
          <p:nvPr/>
        </p:nvSpPr>
        <p:spPr>
          <a:xfrm>
            <a:off x="335360" y="1756400"/>
            <a:ext cx="11521674" cy="12755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350107" y="3031958"/>
            <a:ext cx="11513579" cy="12987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334967" y="580634"/>
            <a:ext cx="11522067" cy="669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lnSpc>
                <a:spcPct val="90000"/>
              </a:lnSpc>
              <a:buClr>
                <a:srgbClr val="7F7F7F"/>
              </a:buClr>
              <a:buSzPts val="1800"/>
            </a:pPr>
            <a:r>
              <a:rPr lang="ru-RU" sz="1800" dirty="0">
                <a:solidFill>
                  <a:srgbClr val="7F7F7F"/>
                </a:solidFill>
              </a:rPr>
              <a:t>Предложенные группы инициатив позволят </a:t>
            </a:r>
            <a:r>
              <a:rPr lang="ru-RU" sz="1800" b="1" dirty="0">
                <a:solidFill>
                  <a:srgbClr val="7F7F7F"/>
                </a:solidFill>
              </a:rPr>
              <a:t>увеличить продажи</a:t>
            </a:r>
            <a:r>
              <a:rPr lang="ru-RU" sz="1800" dirty="0">
                <a:solidFill>
                  <a:srgbClr val="7F7F7F"/>
                </a:solidFill>
              </a:rPr>
              <a:t> мануальных щеток </a:t>
            </a:r>
            <a:r>
              <a:rPr lang="ru-RU" sz="1800" b="1" dirty="0">
                <a:solidFill>
                  <a:srgbClr val="7F7F7F"/>
                </a:solidFill>
              </a:rPr>
              <a:t>на 15-20% </a:t>
            </a:r>
            <a:br>
              <a:rPr lang="ru-RU" sz="1800" b="1" dirty="0">
                <a:solidFill>
                  <a:srgbClr val="7F7F7F"/>
                </a:solidFill>
              </a:rPr>
            </a:br>
            <a:r>
              <a:rPr lang="ru-RU" sz="1800" b="1" dirty="0">
                <a:solidFill>
                  <a:srgbClr val="7F7F7F"/>
                </a:solidFill>
              </a:rPr>
              <a:t>при привлечении бюджета не более чем в 105 млн рублей</a:t>
            </a:r>
            <a:endParaRPr sz="1800" b="1" dirty="0">
              <a:solidFill>
                <a:srgbClr val="7F7F7F"/>
              </a:solidFill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286859" y="199368"/>
            <a:ext cx="1842809" cy="3674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Executive</a:t>
            </a:r>
            <a:r>
              <a:rPr lang="ru-RU" sz="1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4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sz="14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118;p2"/>
          <p:cNvSpPr/>
          <p:nvPr/>
        </p:nvSpPr>
        <p:spPr>
          <a:xfrm>
            <a:off x="327404" y="4163961"/>
            <a:ext cx="11513579" cy="12987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118;p2"/>
          <p:cNvSpPr/>
          <p:nvPr/>
        </p:nvSpPr>
        <p:spPr>
          <a:xfrm>
            <a:off x="334963" y="5462704"/>
            <a:ext cx="11513579" cy="9091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11224591" y="6381750"/>
            <a:ext cx="605941" cy="287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E5353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400" b="0" i="0" u="none" strike="noStrike" cap="none">
              <a:solidFill>
                <a:srgbClr val="E535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350108" y="1346518"/>
            <a:ext cx="3727669" cy="40990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Задача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8591270" y="1382006"/>
            <a:ext cx="3272417" cy="694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Результат </a:t>
            </a:r>
            <a:endParaRPr/>
          </a:p>
        </p:txBody>
      </p:sp>
      <p:sp>
        <p:nvSpPr>
          <p:cNvPr id="12" name="Прямоугольник 11"/>
          <p:cNvSpPr/>
          <p:nvPr/>
        </p:nvSpPr>
        <p:spPr>
          <a:xfrm>
            <a:off x="3946208" y="1346083"/>
            <a:ext cx="4358311" cy="4103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1" name="Google Shape;121;p2"/>
          <p:cNvSpPr txBox="1"/>
          <p:nvPr/>
        </p:nvSpPr>
        <p:spPr>
          <a:xfrm>
            <a:off x="4280710" y="1890191"/>
            <a:ext cx="3664671" cy="5255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101600">
              <a:buClr>
                <a:srgbClr val="7F7F7F"/>
              </a:buClr>
              <a:buSzPts val="1600"/>
              <a:buFont typeface="Arial"/>
              <a:buChar char="•"/>
            </a:pPr>
            <a:r>
              <a:rPr lang="ru-RU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 И</a:t>
            </a:r>
            <a:r>
              <a:rPr lang="ru-RU" sz="15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  <a:sym typeface="Arial"/>
              </a:rPr>
              <a:t>нициатива № 1 </a:t>
            </a:r>
            <a:b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</a:br>
            <a: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Бонусная система: наклейки за смену старой зубной щетки в обмен на услуги стоматологических клиник</a:t>
            </a:r>
          </a:p>
          <a:p>
            <a:pPr lvl="0">
              <a:buClr>
                <a:srgbClr val="7F7F7F"/>
              </a:buClr>
              <a:buSzPts val="1600"/>
            </a:pPr>
            <a:endParaRPr lang="ru-RU" sz="15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lvl="0" indent="-101600">
              <a:buClr>
                <a:srgbClr val="7F7F7F"/>
              </a:buClr>
              <a:buSzPts val="1600"/>
              <a:buFont typeface="Arial"/>
              <a:buChar char="•"/>
            </a:pPr>
            <a:r>
              <a:rPr lang="ru-RU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 Инициатива № 2</a:t>
            </a:r>
            <a:br>
              <a:rPr lang="ru-RU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</a:br>
            <a: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Создание </a:t>
            </a:r>
            <a:r>
              <a:rPr lang="ru-RU" sz="1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комбо</a:t>
            </a:r>
            <a: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-наборов из продуктов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 </a:t>
            </a:r>
            <a:r>
              <a:rPr lang="ru-RU" sz="1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Oral</a:t>
            </a:r>
            <a: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-B и </a:t>
            </a:r>
            <a:r>
              <a:rPr lang="ru-RU" sz="1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Blend</a:t>
            </a:r>
            <a: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-a-</a:t>
            </a:r>
            <a:r>
              <a:rPr lang="ru-RU" sz="1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med</a:t>
            </a:r>
            <a:endParaRPr lang="ru-RU" sz="15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lvl="0">
              <a:buClr>
                <a:srgbClr val="7F7F7F"/>
              </a:buClr>
              <a:buSzPts val="1600"/>
            </a:pPr>
            <a:endParaRPr lang="ru-RU" sz="15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lvl="0">
              <a:buClr>
                <a:srgbClr val="7F7F7F"/>
              </a:buClr>
              <a:buSzPts val="1600"/>
            </a:pPr>
            <a:endParaRPr lang="ru-RU" sz="15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lvl="0" indent="-101600">
              <a:buClr>
                <a:srgbClr val="7F7F7F"/>
              </a:buClr>
              <a:buSzPts val="1600"/>
              <a:buFont typeface="Arial"/>
              <a:buChar char="•"/>
            </a:pPr>
            <a:r>
              <a:rPr lang="ru-RU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 Инициатива № 3 </a:t>
            </a:r>
            <a:br>
              <a:rPr lang="ru-RU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</a:br>
            <a: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Правильная выкладка: размещение среди дорогих зубных щеток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 </a:t>
            </a:r>
            <a: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продукции со средним ценником</a:t>
            </a:r>
          </a:p>
          <a:p>
            <a:pPr lvl="0">
              <a:buClr>
                <a:srgbClr val="7F7F7F"/>
              </a:buClr>
              <a:buSzPts val="1600"/>
            </a:pPr>
            <a:endParaRPr lang="ru-RU" sz="15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lvl="0" indent="-101600">
              <a:buClr>
                <a:srgbClr val="7F7F7F"/>
              </a:buClr>
              <a:buSzPts val="1600"/>
              <a:buFont typeface="Arial"/>
              <a:buChar char="•"/>
            </a:pPr>
            <a:r>
              <a:rPr lang="ru-RU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 Инициатива № 4 </a:t>
            </a:r>
            <a:br>
              <a:rPr lang="ru-RU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</a:br>
            <a: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Продажа продукции в </a:t>
            </a:r>
            <a:r>
              <a:rPr lang="ru-RU" sz="1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дискаунтерах</a:t>
            </a:r>
            <a: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, где часты импульсивные покупки</a:t>
            </a:r>
            <a:br>
              <a:rPr lang="ru-RU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</a:br>
            <a:br>
              <a:rPr lang="ru-RU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</a:br>
            <a:endParaRPr lang="ru-RU" sz="15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2264122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Анализ рынка</a:t>
            </a:r>
            <a:endParaRPr sz="1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4241385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Инициативы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6177083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Риски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8112781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Команда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10048479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Приложения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4249212" y="1346500"/>
            <a:ext cx="3727669" cy="40990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Решение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8148316" y="1346482"/>
            <a:ext cx="3727669" cy="40990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Результат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8304519" y="1885129"/>
            <a:ext cx="3415262" cy="5992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101600">
              <a:buClr>
                <a:srgbClr val="7F7F7F"/>
              </a:buClr>
              <a:buSzPts val="1600"/>
              <a:buFont typeface="Arial"/>
              <a:buChar char="•"/>
            </a:pPr>
            <a:r>
              <a:rPr lang="ru-RU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 Эффект от инициативы № 1</a:t>
            </a:r>
            <a:br>
              <a:rPr lang="ru-RU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</a:br>
            <a: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Удержание любителей акций, перфекционистов и </a:t>
            </a:r>
            <a:r>
              <a:rPr lang="ru-RU" sz="1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show-off</a:t>
            </a:r>
            <a:endParaRPr lang="ru-RU" sz="15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lvl="0" indent="-101600">
              <a:buClr>
                <a:srgbClr val="7F7F7F"/>
              </a:buClr>
              <a:buSzPts val="1600"/>
              <a:buFont typeface="Arial"/>
              <a:buChar char="•"/>
            </a:pPr>
            <a:endParaRPr lang="ru-RU" sz="15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lvl="0" indent="-101600">
              <a:buClr>
                <a:srgbClr val="7F7F7F"/>
              </a:buClr>
              <a:buSzPts val="1600"/>
              <a:buFont typeface="Arial"/>
              <a:buChar char="•"/>
            </a:pPr>
            <a:endParaRPr lang="ru-RU" sz="15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lvl="0" indent="-101600">
              <a:buClr>
                <a:srgbClr val="7F7F7F"/>
              </a:buClr>
              <a:buSzPts val="1600"/>
              <a:buFont typeface="Arial"/>
              <a:buChar char="•"/>
            </a:pPr>
            <a:r>
              <a:rPr lang="ru-RU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 Эффект от инициативы № 2</a:t>
            </a:r>
            <a:br>
              <a:rPr lang="ru-RU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</a:br>
            <a: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Совершение покупок на </a:t>
            </a:r>
            <a:r>
              <a:rPr lang="ru-RU" sz="1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бОльшую</a:t>
            </a:r>
            <a: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 сумму, нежели планировалось изначально</a:t>
            </a:r>
          </a:p>
          <a:p>
            <a:pPr lvl="0">
              <a:buClr>
                <a:srgbClr val="7F7F7F"/>
              </a:buClr>
              <a:buSzPts val="1600"/>
            </a:pPr>
            <a:endParaRPr lang="ru-RU" sz="15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lvl="0" indent="-101600">
              <a:buClr>
                <a:srgbClr val="7F7F7F"/>
              </a:buClr>
              <a:buSzPts val="1600"/>
              <a:buFont typeface="Arial"/>
              <a:buChar char="•"/>
            </a:pPr>
            <a:r>
              <a:rPr lang="ru-RU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 Эффект от инициативы № 3</a:t>
            </a:r>
          </a:p>
          <a:p>
            <a:pPr lvl="0">
              <a:buClr>
                <a:srgbClr val="7F7F7F"/>
              </a:buClr>
              <a:buSzPts val="1600"/>
            </a:pPr>
            <a: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Клиенты подводятся к покупке более дорогих товаров без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 </a:t>
            </a:r>
            <a: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повышения цены на них</a:t>
            </a:r>
          </a:p>
          <a:p>
            <a:pPr>
              <a:buClr>
                <a:srgbClr val="7F7F7F"/>
              </a:buClr>
              <a:buSzPts val="1600"/>
            </a:pPr>
            <a:endParaRPr lang="ru-RU" sz="15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lvl="0" indent="-101600">
              <a:buClr>
                <a:srgbClr val="7F7F7F"/>
              </a:buClr>
              <a:buSzPts val="1600"/>
              <a:buFont typeface="Arial"/>
              <a:buChar char="•"/>
            </a:pPr>
            <a:r>
              <a:rPr lang="ru-RU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 Эффект от инициативы № 4</a:t>
            </a:r>
          </a:p>
          <a:p>
            <a:pPr>
              <a:buClr>
                <a:srgbClr val="7F7F7F"/>
              </a:buClr>
              <a:buSzPts val="1600"/>
            </a:pPr>
            <a: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Расширение объема продаж товара за счет неосвоенных ранее площадок размещения</a:t>
            </a:r>
          </a:p>
          <a:p>
            <a:pPr marL="457200" marR="0" lvl="1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5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  <a:sym typeface="Arial"/>
            </a:endParaRPr>
          </a:p>
          <a:p>
            <a:pPr marL="2286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endParaRPr sz="15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  <a:sym typeface="Arial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556491" y="1885129"/>
            <a:ext cx="3415262" cy="5373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101600">
              <a:buClr>
                <a:srgbClr val="7F7F7F"/>
              </a:buClr>
              <a:buSzPts val="1600"/>
              <a:buFont typeface="Arial"/>
              <a:buChar char="•"/>
            </a:pPr>
            <a:r>
              <a:rPr lang="ru-RU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 Проблема № 1:</a:t>
            </a:r>
            <a:b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</a:br>
            <a: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Плохая работа с ЦА в лице перфекционистов и 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s</a:t>
            </a:r>
            <a:r>
              <a:rPr lang="ru-RU" sz="1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how-of</a:t>
            </a:r>
            <a:endParaRPr lang="ru-RU" sz="15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lvl="0">
              <a:buClr>
                <a:srgbClr val="7F7F7F"/>
              </a:buClr>
              <a:buSzPts val="1600"/>
            </a:pPr>
            <a:br>
              <a:rPr lang="ru-RU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</a:br>
            <a:endParaRPr lang="ru-RU" sz="15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lvl="0" indent="-101600">
              <a:buClr>
                <a:srgbClr val="7F7F7F"/>
              </a:buClr>
              <a:buSzPts val="1600"/>
              <a:buFont typeface="Arial"/>
              <a:buChar char="•"/>
            </a:pPr>
            <a:r>
              <a:rPr lang="ru-RU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 Проблема № 2: </a:t>
            </a:r>
            <a:b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</a:br>
            <a: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В ритейлерах отсутствуют привлекательные акции, которые ищут 41% покупателей 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Oral-B</a:t>
            </a:r>
            <a:endParaRPr lang="ru-RU" sz="15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lvl="0">
              <a:buClr>
                <a:srgbClr val="7F7F7F"/>
              </a:buClr>
              <a:buSzPts val="1600"/>
            </a:pPr>
            <a:endParaRPr lang="ru-RU" sz="15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lvl="0" indent="-101600">
              <a:buClr>
                <a:srgbClr val="7F7F7F"/>
              </a:buClr>
              <a:buSzPts val="1600"/>
              <a:buFont typeface="Arial"/>
              <a:buChar char="•"/>
            </a:pPr>
            <a:r>
              <a:rPr lang="ru-RU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 Проблема № 3: </a:t>
            </a:r>
            <a:b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</a:br>
            <a: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Значительная часть покупок приходится на самый дешевый ценовой сегмент</a:t>
            </a:r>
          </a:p>
          <a:p>
            <a:pPr lvl="0">
              <a:buClr>
                <a:srgbClr val="7F7F7F"/>
              </a:buClr>
              <a:buSzPts val="1600"/>
            </a:pPr>
            <a:endParaRPr lang="ru-RU" sz="15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lvl="0" indent="-101600">
              <a:buClr>
                <a:srgbClr val="7F7F7F"/>
              </a:buClr>
              <a:buSzPts val="1600"/>
              <a:buFont typeface="Arial"/>
              <a:buChar char="•"/>
            </a:pPr>
            <a:r>
              <a:rPr lang="ru-RU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 Проблема № 4: </a:t>
            </a:r>
            <a:b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</a:br>
            <a:r>
              <a:rPr lang="ru-RU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 panose="020F0502020204030204" pitchFamily="34" charset="0"/>
              </a:rPr>
              <a:t>Нет предложений для людей, ищущих самые низкие цены</a:t>
            </a:r>
          </a:p>
          <a:p>
            <a:pPr indent="-101600">
              <a:spcBef>
                <a:spcPts val="1000"/>
              </a:spcBef>
              <a:buClr>
                <a:srgbClr val="7F7F7F"/>
              </a:buClr>
              <a:buSzPts val="1600"/>
              <a:buFont typeface="Arial"/>
              <a:buChar char="•"/>
            </a:pPr>
            <a:endParaRPr sz="15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Calibri" panose="020F0502020204030204" pitchFamily="34" charset="0"/>
              <a:sym typeface="Arial"/>
            </a:endParaRPr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3940308" y="1346083"/>
            <a:ext cx="0" cy="528305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/>
          <p:nvPr/>
        </p:nvCxnSpPr>
        <p:spPr>
          <a:xfrm>
            <a:off x="8148316" y="1346083"/>
            <a:ext cx="0" cy="528305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163985" y="2940824"/>
            <a:ext cx="1181946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44218" y="4061195"/>
            <a:ext cx="1181946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196618" y="5267928"/>
            <a:ext cx="1181946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196618" y="6399932"/>
            <a:ext cx="3643862" cy="177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/>
          <p:cNvSpPr/>
          <p:nvPr/>
        </p:nvSpPr>
        <p:spPr>
          <a:xfrm>
            <a:off x="196617" y="1145804"/>
            <a:ext cx="11777209" cy="1445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48" name="Google Shape;148;p3"/>
          <p:cNvGrpSpPr/>
          <p:nvPr/>
        </p:nvGrpSpPr>
        <p:grpSpPr>
          <a:xfrm>
            <a:off x="279388" y="808514"/>
            <a:ext cx="11538099" cy="4333191"/>
            <a:chOff x="394588" y="1140671"/>
            <a:chExt cx="11538099" cy="4333191"/>
          </a:xfrm>
        </p:grpSpPr>
        <p:sp>
          <p:nvSpPr>
            <p:cNvPr id="149" name="Google Shape;149;p3"/>
            <p:cNvSpPr/>
            <p:nvPr/>
          </p:nvSpPr>
          <p:spPr>
            <a:xfrm>
              <a:off x="6750741" y="1140671"/>
              <a:ext cx="4797287" cy="1323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91425" bIns="45700" anchor="t" anchorCtr="0">
              <a:spAutoFit/>
            </a:bodyPr>
            <a:lstStyle/>
            <a:p>
              <a:pPr marL="285750" lvl="0" indent="-285750">
                <a:buClr>
                  <a:srgbClr val="1F4E79"/>
                </a:buClr>
                <a:buSzPts val="1600"/>
                <a:buFont typeface="Arial"/>
                <a:buChar char="•"/>
              </a:pPr>
              <a:r>
                <a:rPr lang="ru-RU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Colgate</a:t>
              </a:r>
              <a:r>
                <a:rPr lang="ru-RU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доминирует по объему продаж в денежном эквиваленте</a:t>
              </a:r>
            </a:p>
            <a:p>
              <a:pPr marL="285750" lvl="0" indent="-285750">
                <a:buClr>
                  <a:srgbClr val="1F4E79"/>
                </a:buClr>
                <a:buSzPts val="1600"/>
                <a:buFont typeface="Arial"/>
                <a:buChar char="•"/>
              </a:pPr>
              <a:r>
                <a:rPr lang="ru-RU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Доли компаний в выручке продолжительное время остаются неизменны, общий объем продаж относительно стабилен</a:t>
              </a:r>
              <a:endParaRPr sz="16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endParaRPr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399708" y="1140671"/>
              <a:ext cx="5115265" cy="3077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0" tIns="45700" rIns="91425" bIns="45700" anchor="t" anchorCtr="0">
              <a:spAutoFit/>
            </a:bodyPr>
            <a:lstStyle/>
            <a:p>
              <a:pPr marL="287338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dirty="0">
                  <a:solidFill>
                    <a:schemeClr val="bg1"/>
                  </a:solidFill>
                </a:rPr>
                <a:t>Объем продаж в денежном выражении в России</a:t>
              </a:r>
              <a:endParaRPr sz="1200" dirty="0">
                <a:solidFill>
                  <a:schemeClr val="bg1"/>
                </a:solidFill>
              </a:endParaRPr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394588" y="4011385"/>
              <a:ext cx="5115265" cy="3077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0" tIns="45700" rIns="91425" bIns="45700" anchor="t" anchorCtr="0">
              <a:spAutoFit/>
            </a:bodyPr>
            <a:lstStyle/>
            <a:p>
              <a:pPr marL="287338" lvl="0"/>
              <a:r>
                <a:rPr lang="ru-RU" dirty="0">
                  <a:solidFill>
                    <a:schemeClr val="bg1"/>
                  </a:solidFill>
                </a:rPr>
                <a:t>Объем продаж в натуральном выражении в России</a:t>
              </a:r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6292283" y="2796246"/>
              <a:ext cx="5640404" cy="267761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spcFirstLastPara="1" wrap="square" lIns="0" tIns="45700" rIns="91425" bIns="45700" anchor="t" anchorCtr="0">
              <a:spAutoFit/>
            </a:bodyPr>
            <a:lstStyle/>
            <a:p>
              <a:pPr marL="287338" lvl="0"/>
              <a:r>
                <a:rPr lang="ru-RU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Несмотря на снижение объема продаж в натуральном выражении, рынок продолжает удерживать прежние объемы продаж в денежном выражении без выделения восходящих или нисходящих трендов</a:t>
              </a:r>
            </a:p>
            <a:p>
              <a:pPr marL="287338" lvl="0"/>
              <a:endParaRPr lang="ru-RU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7338" lvl="0"/>
              <a:r>
                <a:rPr lang="ru-RU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В условиях такого рынка тяжело получить дополнительную прибыль, однако вместе с этим новые участники рынка или конкуренты вряд ли смогут серьезно повлиять на позиции крупнейших игроков, к которым относится </a:t>
              </a:r>
              <a:r>
                <a:rPr lang="ru-RU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Oral</a:t>
              </a:r>
              <a:r>
                <a:rPr lang="ru-RU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-B</a:t>
              </a:r>
            </a:p>
            <a:p>
              <a:pPr marL="287338" lvl="0"/>
              <a:endParaRPr lang="ru-RU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7338" lvl="0"/>
              <a:r>
                <a:rPr lang="ru-RU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Вероятно, именно цементирование рынка привело к снижению эффективности всех традиционных методов продвижения</a:t>
              </a:r>
              <a:endParaRPr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55" name="Google Shape;155;p3"/>
          <p:cNvSpPr txBox="1"/>
          <p:nvPr/>
        </p:nvSpPr>
        <p:spPr>
          <a:xfrm>
            <a:off x="11224591" y="6381750"/>
            <a:ext cx="605941" cy="287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E53530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400">
              <a:solidFill>
                <a:srgbClr val="E535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286859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2264122" y="199368"/>
            <a:ext cx="1842809" cy="3674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Анализ рынка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6177083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Риски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8112781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Команда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10048479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Приложения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202;p4"/>
          <p:cNvSpPr/>
          <p:nvPr/>
        </p:nvSpPr>
        <p:spPr>
          <a:xfrm>
            <a:off x="4235035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Инициативы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0" name="Picture 2" descr="https://lh5.googleusercontent.com/gPmOCpW8gkf8ZwBBk7o2z69nHXFgiHLHRNXUnlewEVgQUGNFKGnIiAmGQrcqH1QdfvsZHEc_tLfhyzo5i24kYTvbSf4vUpLx9ltSFiSEgv5q9p41KvyNHsCGg7X353nlifL_Oy5G7d3JUmzLK7jABQY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93" b="3361"/>
          <a:stretch/>
        </p:blipFill>
        <p:spPr bwMode="auto">
          <a:xfrm>
            <a:off x="276479" y="1206447"/>
            <a:ext cx="5266564" cy="237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lh6.googleusercontent.com/anVqDrLTJ6OiWV6tIG-ExQlyd-u7PqBtBbdQ5qrNp3TRJgPeo2eaAAFBrs-oYoEpMZMzrFfDIMCX35a2Ny8Aciof0ibngebhVl_j8d263ZB2BYXlvNofhCxPlfiqqQi_hJgry7U_oW8-yqHyZbFGKz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4" t="18979" b="2696"/>
          <a:stretch/>
        </p:blipFill>
        <p:spPr bwMode="auto">
          <a:xfrm>
            <a:off x="276479" y="4112973"/>
            <a:ext cx="5255392" cy="251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Прямоугольник 20"/>
          <p:cNvSpPr/>
          <p:nvPr/>
        </p:nvSpPr>
        <p:spPr>
          <a:xfrm>
            <a:off x="1015088" y="4040349"/>
            <a:ext cx="4171591" cy="1662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Google Shape;149;p3"/>
          <p:cNvSpPr/>
          <p:nvPr/>
        </p:nvSpPr>
        <p:spPr>
          <a:xfrm>
            <a:off x="6635541" y="5628185"/>
            <a:ext cx="4751208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285750" lvl="0" indent="-285750">
              <a:buClr>
                <a:srgbClr val="1F4E79"/>
              </a:buClr>
              <a:buSzPts val="1600"/>
              <a:buFont typeface="Arial"/>
              <a:buChar char="•"/>
            </a:pP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Объем продаж в натуральном выражении на рынке мануальных зубных щеток снижается</a:t>
            </a:r>
          </a:p>
          <a:p>
            <a:pPr marL="285750" lvl="0" indent="-285750">
              <a:buClr>
                <a:srgbClr val="1F4E79"/>
              </a:buClr>
              <a:buSzPts val="1600"/>
              <a:buFont typeface="Arial"/>
              <a:buChar char="•"/>
            </a:pP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На фоне общего падения растут объемы продаж </a:t>
            </a:r>
            <a:r>
              <a:rPr lang="ru-RU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Splat</a:t>
            </a:r>
            <a:endParaRPr sz="1600" dirty="0">
              <a:solidFill>
                <a:schemeClr val="tx1">
                  <a:lumMod val="75000"/>
                  <a:lumOff val="25000"/>
                </a:schemeClr>
              </a:solidFill>
              <a:sym typeface="Arial"/>
            </a:endParaRPr>
          </a:p>
        </p:txBody>
      </p:sp>
      <p:sp>
        <p:nvSpPr>
          <p:cNvPr id="3" name="Стрелка вправо 2"/>
          <p:cNvSpPr/>
          <p:nvPr/>
        </p:nvSpPr>
        <p:spPr>
          <a:xfrm rot="1525810">
            <a:off x="5667471" y="5730256"/>
            <a:ext cx="845688" cy="57912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Стрелка вправо 27"/>
          <p:cNvSpPr/>
          <p:nvPr/>
        </p:nvSpPr>
        <p:spPr>
          <a:xfrm rot="20537919">
            <a:off x="5638900" y="1077241"/>
            <a:ext cx="845688" cy="57912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Прямоугольник 55"/>
          <p:cNvSpPr/>
          <p:nvPr/>
        </p:nvSpPr>
        <p:spPr>
          <a:xfrm>
            <a:off x="8755982" y="1824395"/>
            <a:ext cx="3222178" cy="140577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Прямоугольник 56"/>
          <p:cNvSpPr/>
          <p:nvPr/>
        </p:nvSpPr>
        <p:spPr>
          <a:xfrm>
            <a:off x="8755523" y="3395472"/>
            <a:ext cx="3222178" cy="140577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Прямоугольник 57"/>
          <p:cNvSpPr/>
          <p:nvPr/>
        </p:nvSpPr>
        <p:spPr>
          <a:xfrm>
            <a:off x="8761275" y="5002027"/>
            <a:ext cx="3222178" cy="140577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7" name="Google Shape;167;p4"/>
          <p:cNvSpPr txBox="1"/>
          <p:nvPr/>
        </p:nvSpPr>
        <p:spPr>
          <a:xfrm>
            <a:off x="334967" y="580634"/>
            <a:ext cx="11522067" cy="669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Подробное раскрытие инициативы № 1</a:t>
            </a:r>
            <a:endParaRPr sz="1800" b="1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8916235" y="2151776"/>
            <a:ext cx="3456957" cy="1317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90000"/>
              </a:lnSpc>
              <a:buClr>
                <a:srgbClr val="3F3F3F"/>
              </a:buClr>
              <a:buSzPts val="1600"/>
            </a:pPr>
            <a:r>
              <a:rPr lang="ru-RU" dirty="0">
                <a:solidFill>
                  <a:srgbClr val="3F3F3F"/>
                </a:solidFill>
                <a:latin typeface="+mj-lt"/>
                <a:cs typeface="Calibri" panose="020F0502020204030204" pitchFamily="34" charset="0"/>
              </a:rPr>
              <a:t>Составлен ранжированный </a:t>
            </a:r>
            <a:br>
              <a:rPr lang="ru-RU" dirty="0">
                <a:solidFill>
                  <a:srgbClr val="3F3F3F"/>
                </a:solidFill>
                <a:latin typeface="+mj-lt"/>
                <a:cs typeface="Calibri" panose="020F0502020204030204" pitchFamily="34" charset="0"/>
              </a:rPr>
            </a:br>
            <a:r>
              <a:rPr lang="ru-RU" dirty="0">
                <a:solidFill>
                  <a:srgbClr val="3F3F3F"/>
                </a:solidFill>
                <a:latin typeface="+mj-lt"/>
                <a:cs typeface="Calibri" panose="020F0502020204030204" pitchFamily="34" charset="0"/>
              </a:rPr>
              <a:t>список наград в соответствии с количеством приобретенной продукции</a:t>
            </a:r>
            <a:endParaRPr sz="1200" dirty="0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384995" y="1347350"/>
            <a:ext cx="164653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ЧТО ДЕЛАТЬ</a:t>
            </a:r>
            <a:endParaRPr dirty="0">
              <a:latin typeface="+mj-lt"/>
            </a:endParaRPr>
          </a:p>
        </p:txBody>
      </p:sp>
      <p:sp>
        <p:nvSpPr>
          <p:cNvPr id="199" name="Google Shape;199;p4"/>
          <p:cNvSpPr txBox="1"/>
          <p:nvPr/>
        </p:nvSpPr>
        <p:spPr>
          <a:xfrm>
            <a:off x="11137963" y="6381750"/>
            <a:ext cx="605941" cy="287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E5353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400">
              <a:solidFill>
                <a:srgbClr val="E535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286859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2264122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Анализ рынка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4241385" y="199368"/>
            <a:ext cx="1842809" cy="3674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Инициативы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6177083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Риски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8112781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Команда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10048479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Приложения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369095" y="1824395"/>
            <a:ext cx="4635061" cy="140577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9" name="Google Shape;189;p4"/>
          <p:cNvSpPr txBox="1"/>
          <p:nvPr/>
        </p:nvSpPr>
        <p:spPr>
          <a:xfrm>
            <a:off x="3495688" y="1957083"/>
            <a:ext cx="4765444" cy="13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Собрать информацию о себестоимости продуктов </a:t>
            </a:r>
            <a:r>
              <a:rPr lang="ru-RU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Oral</a:t>
            </a:r>
            <a: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-B (акция для товаров с ценой от 150 рублей)*</a:t>
            </a:r>
            <a:b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</a:br>
            <a:endParaRPr lang="ru-RU" dirty="0">
              <a:solidFill>
                <a:schemeClr val="dk1"/>
              </a:solidFill>
              <a:latin typeface="+mn-lt"/>
              <a:ea typeface="Calibri"/>
              <a:cs typeface="Calibri"/>
            </a:endParaRPr>
          </a:p>
          <a:p>
            <a:pPr lvl="0">
              <a:buClr>
                <a:schemeClr val="dk1"/>
              </a:buClr>
              <a:buSzPts val="1600"/>
            </a:pPr>
            <a: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</a:rPr>
              <a:t>Рассчитать количество продуктов, которые надо купить, чтобы окупить награды акции</a:t>
            </a:r>
            <a:endParaRPr dirty="0">
              <a:solidFill>
                <a:schemeClr val="dk1"/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43" name="Google Shape;192;p4"/>
          <p:cNvSpPr txBox="1"/>
          <p:nvPr/>
        </p:nvSpPr>
        <p:spPr>
          <a:xfrm>
            <a:off x="8916234" y="3700341"/>
            <a:ext cx="3456957" cy="1317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90000"/>
              </a:lnSpc>
              <a:buClr>
                <a:srgbClr val="3F3F3F"/>
              </a:buClr>
              <a:buSzPts val="1600"/>
            </a:pPr>
            <a:r>
              <a:rPr lang="ru-RU" dirty="0">
                <a:solidFill>
                  <a:srgbClr val="3F3F3F"/>
                </a:solidFill>
                <a:latin typeface="+mj-lt"/>
                <a:cs typeface="Calibri" panose="020F0502020204030204" pitchFamily="34" charset="0"/>
              </a:rPr>
              <a:t>Создана система отслеживания </a:t>
            </a:r>
            <a:br>
              <a:rPr lang="ru-RU" dirty="0">
                <a:solidFill>
                  <a:srgbClr val="3F3F3F"/>
                </a:solidFill>
                <a:latin typeface="+mj-lt"/>
                <a:cs typeface="Calibri" panose="020F0502020204030204" pitchFamily="34" charset="0"/>
              </a:rPr>
            </a:br>
            <a:r>
              <a:rPr lang="ru-RU" dirty="0">
                <a:solidFill>
                  <a:srgbClr val="3F3F3F"/>
                </a:solidFill>
                <a:latin typeface="+mj-lt"/>
                <a:cs typeface="Calibri" panose="020F0502020204030204" pitchFamily="34" charset="0"/>
              </a:rPr>
              <a:t>числа покупок продукции </a:t>
            </a:r>
            <a:r>
              <a:rPr lang="ru-RU" dirty="0" err="1">
                <a:solidFill>
                  <a:srgbClr val="3F3F3F"/>
                </a:solidFill>
                <a:latin typeface="+mj-lt"/>
                <a:cs typeface="Calibri" panose="020F0502020204030204" pitchFamily="34" charset="0"/>
              </a:rPr>
              <a:t>Oral</a:t>
            </a:r>
            <a:r>
              <a:rPr lang="ru-RU" dirty="0">
                <a:solidFill>
                  <a:srgbClr val="3F3F3F"/>
                </a:solidFill>
                <a:latin typeface="+mj-lt"/>
                <a:cs typeface="Calibri" panose="020F0502020204030204" pitchFamily="34" charset="0"/>
              </a:rPr>
              <a:t>-B и </a:t>
            </a:r>
            <a:r>
              <a:rPr lang="ru-RU" dirty="0" err="1">
                <a:solidFill>
                  <a:srgbClr val="3F3F3F"/>
                </a:solidFill>
                <a:latin typeface="+mj-lt"/>
                <a:cs typeface="Calibri" panose="020F0502020204030204" pitchFamily="34" charset="0"/>
              </a:rPr>
              <a:t>Blend</a:t>
            </a:r>
            <a:r>
              <a:rPr lang="ru-RU" dirty="0">
                <a:solidFill>
                  <a:srgbClr val="3F3F3F"/>
                </a:solidFill>
                <a:latin typeface="+mj-lt"/>
                <a:cs typeface="Calibri" panose="020F0502020204030204" pitchFamily="34" charset="0"/>
              </a:rPr>
              <a:t>-a-</a:t>
            </a:r>
            <a:r>
              <a:rPr lang="ru-RU" dirty="0" err="1">
                <a:solidFill>
                  <a:srgbClr val="3F3F3F"/>
                </a:solidFill>
                <a:latin typeface="+mj-lt"/>
                <a:cs typeface="Calibri" panose="020F0502020204030204" pitchFamily="34" charset="0"/>
              </a:rPr>
              <a:t>Med</a:t>
            </a:r>
            <a:r>
              <a:rPr lang="ru-RU" dirty="0">
                <a:solidFill>
                  <a:srgbClr val="3F3F3F"/>
                </a:solidFill>
                <a:latin typeface="+mj-lt"/>
                <a:cs typeface="Calibri" panose="020F0502020204030204" pitchFamily="34" charset="0"/>
              </a:rPr>
              <a:t> для дальнейшего начисления бонусов</a:t>
            </a:r>
            <a:endParaRPr sz="1200" dirty="0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2" name="Выноска со стрелкой вправо 1"/>
          <p:cNvSpPr/>
          <p:nvPr/>
        </p:nvSpPr>
        <p:spPr>
          <a:xfrm>
            <a:off x="200231" y="1824395"/>
            <a:ext cx="2992100" cy="1405810"/>
          </a:xfrm>
          <a:prstGeom prst="rightArrowCallout">
            <a:avLst>
              <a:gd name="adj1" fmla="val 25000"/>
              <a:gd name="adj2" fmla="val 30477"/>
              <a:gd name="adj3" fmla="val 46909"/>
              <a:gd name="adj4" fmla="val 6497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Google Shape;192;p4"/>
          <p:cNvSpPr txBox="1"/>
          <p:nvPr/>
        </p:nvSpPr>
        <p:spPr>
          <a:xfrm>
            <a:off x="8916233" y="5278470"/>
            <a:ext cx="3456957" cy="1317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90000"/>
              </a:lnSpc>
              <a:buClr>
                <a:srgbClr val="3F3F3F"/>
              </a:buClr>
              <a:buSzPts val="1600"/>
            </a:pPr>
            <a:r>
              <a:rPr lang="ru-RU" dirty="0">
                <a:solidFill>
                  <a:srgbClr val="3F3F3F"/>
                </a:solidFill>
                <a:latin typeface="+mj-lt"/>
                <a:cs typeface="Calibri" panose="020F0502020204030204" pitchFamily="34" charset="0"/>
              </a:rPr>
              <a:t>Создана система, в которой покупатель сможет быстро </a:t>
            </a:r>
            <a:br>
              <a:rPr lang="ru-RU" dirty="0">
                <a:solidFill>
                  <a:srgbClr val="3F3F3F"/>
                </a:solidFill>
                <a:latin typeface="+mj-lt"/>
                <a:cs typeface="Calibri" panose="020F0502020204030204" pitchFamily="34" charset="0"/>
              </a:rPr>
            </a:br>
            <a:r>
              <a:rPr lang="ru-RU" dirty="0">
                <a:solidFill>
                  <a:srgbClr val="3F3F3F"/>
                </a:solidFill>
                <a:latin typeface="+mj-lt"/>
                <a:cs typeface="Calibri" panose="020F0502020204030204" pitchFamily="34" charset="0"/>
              </a:rPr>
              <a:t>получить призы за набранное </a:t>
            </a:r>
            <a:br>
              <a:rPr lang="ru-RU" dirty="0">
                <a:solidFill>
                  <a:srgbClr val="3F3F3F"/>
                </a:solidFill>
                <a:latin typeface="+mj-lt"/>
                <a:cs typeface="Calibri" panose="020F0502020204030204" pitchFamily="34" charset="0"/>
              </a:rPr>
            </a:br>
            <a:r>
              <a:rPr lang="ru-RU" dirty="0">
                <a:solidFill>
                  <a:srgbClr val="3F3F3F"/>
                </a:solidFill>
                <a:latin typeface="+mj-lt"/>
                <a:cs typeface="Calibri" panose="020F0502020204030204" pitchFamily="34" charset="0"/>
              </a:rPr>
              <a:t>число бонусов</a:t>
            </a:r>
            <a:endParaRPr sz="1200" dirty="0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319060" y="1932352"/>
            <a:ext cx="1835155" cy="1317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90000"/>
              </a:lnSpc>
              <a:buClr>
                <a:schemeClr val="lt1"/>
              </a:buClr>
              <a:buSzPts val="1600"/>
            </a:pPr>
            <a:r>
              <a:rPr lang="ru-RU" sz="1600" b="1" dirty="0">
                <a:solidFill>
                  <a:schemeClr val="lt1"/>
                </a:solidFill>
                <a:latin typeface="+mn-lt"/>
                <a:cs typeface="Calibri" panose="020F0502020204030204" pitchFamily="34" charset="0"/>
              </a:rPr>
              <a:t>Рассчитать выгоды от акции согласно себестоимости продукции</a:t>
            </a:r>
            <a:endParaRPr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48" name="Выноска со стрелкой вправо 47"/>
          <p:cNvSpPr/>
          <p:nvPr/>
        </p:nvSpPr>
        <p:spPr>
          <a:xfrm>
            <a:off x="200231" y="3390735"/>
            <a:ext cx="2992100" cy="1405810"/>
          </a:xfrm>
          <a:prstGeom prst="rightArrowCallout">
            <a:avLst>
              <a:gd name="adj1" fmla="val 25000"/>
              <a:gd name="adj2" fmla="val 30477"/>
              <a:gd name="adj3" fmla="val 46909"/>
              <a:gd name="adj4" fmla="val 6497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Google Shape;186;p4"/>
          <p:cNvSpPr txBox="1"/>
          <p:nvPr/>
        </p:nvSpPr>
        <p:spPr>
          <a:xfrm>
            <a:off x="319060" y="3593240"/>
            <a:ext cx="1835155" cy="1317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90000"/>
              </a:lnSpc>
              <a:buClr>
                <a:schemeClr val="lt1"/>
              </a:buClr>
              <a:buSzPts val="1600"/>
            </a:pPr>
            <a:r>
              <a:rPr lang="ru-RU" sz="1600" b="1" dirty="0">
                <a:solidFill>
                  <a:schemeClr val="lt1"/>
                </a:solidFill>
                <a:cs typeface="Calibri" panose="020F0502020204030204" pitchFamily="34" charset="0"/>
              </a:rPr>
              <a:t>Договориться </a:t>
            </a:r>
            <a:br>
              <a:rPr lang="ru-RU" sz="1600" b="1" dirty="0">
                <a:solidFill>
                  <a:schemeClr val="lt1"/>
                </a:solidFill>
                <a:cs typeface="Calibri" panose="020F0502020204030204" pitchFamily="34" charset="0"/>
              </a:rPr>
            </a:br>
            <a:r>
              <a:rPr lang="ru-RU" sz="1600" b="1" dirty="0">
                <a:solidFill>
                  <a:schemeClr val="lt1"/>
                </a:solidFill>
                <a:cs typeface="Calibri" panose="020F0502020204030204" pitchFamily="34" charset="0"/>
              </a:rPr>
              <a:t>с ритейлерами о проведении акции</a:t>
            </a:r>
            <a:endParaRPr lang="ru-RU" dirty="0">
              <a:cs typeface="Calibri" panose="020F0502020204030204" pitchFamily="34" charset="0"/>
            </a:endParaRPr>
          </a:p>
        </p:txBody>
      </p:sp>
      <p:sp>
        <p:nvSpPr>
          <p:cNvPr id="50" name="Выноска со стрелкой вправо 49"/>
          <p:cNvSpPr/>
          <p:nvPr/>
        </p:nvSpPr>
        <p:spPr>
          <a:xfrm>
            <a:off x="200231" y="4999050"/>
            <a:ext cx="2992100" cy="1405810"/>
          </a:xfrm>
          <a:prstGeom prst="rightArrowCallout">
            <a:avLst>
              <a:gd name="adj1" fmla="val 25000"/>
              <a:gd name="adj2" fmla="val 30477"/>
              <a:gd name="adj3" fmla="val 46909"/>
              <a:gd name="adj4" fmla="val 6497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Google Shape;186;p4"/>
          <p:cNvSpPr txBox="1"/>
          <p:nvPr/>
        </p:nvSpPr>
        <p:spPr>
          <a:xfrm>
            <a:off x="319060" y="5107007"/>
            <a:ext cx="1835155" cy="1317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90000"/>
              </a:lnSpc>
              <a:buClr>
                <a:schemeClr val="lt1"/>
              </a:buClr>
              <a:buSzPts val="1600"/>
            </a:pPr>
            <a:r>
              <a:rPr lang="ru-RU" sz="1600" b="1" dirty="0">
                <a:solidFill>
                  <a:schemeClr val="lt1"/>
                </a:solidFill>
                <a:cs typeface="Calibri" panose="020F0502020204030204" pitchFamily="34" charset="0"/>
              </a:rPr>
              <a:t>Создать систему связи для выдачи подарков покупателям</a:t>
            </a:r>
            <a:endParaRPr lang="ru-RU" dirty="0">
              <a:cs typeface="Calibri" panose="020F0502020204030204" pitchFamily="34" charset="0"/>
            </a:endParaRPr>
          </a:p>
        </p:txBody>
      </p:sp>
      <p:sp>
        <p:nvSpPr>
          <p:cNvPr id="54" name="Прямоугольник 53"/>
          <p:cNvSpPr/>
          <p:nvPr/>
        </p:nvSpPr>
        <p:spPr>
          <a:xfrm>
            <a:off x="3368636" y="3395472"/>
            <a:ext cx="4635061" cy="140577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Прямоугольник 54"/>
          <p:cNvSpPr/>
          <p:nvPr/>
        </p:nvSpPr>
        <p:spPr>
          <a:xfrm>
            <a:off x="3374388" y="5002027"/>
            <a:ext cx="4635061" cy="140577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Стрелка вниз 67"/>
          <p:cNvSpPr/>
          <p:nvPr/>
        </p:nvSpPr>
        <p:spPr>
          <a:xfrm rot="16200000">
            <a:off x="7846210" y="5220834"/>
            <a:ext cx="678723" cy="962240"/>
          </a:xfrm>
          <a:prstGeom prst="downArrow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Google Shape;189;p4"/>
          <p:cNvSpPr txBox="1"/>
          <p:nvPr/>
        </p:nvSpPr>
        <p:spPr>
          <a:xfrm>
            <a:off x="3427840" y="3510774"/>
            <a:ext cx="4765444" cy="13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Рассмотреть </a:t>
            </a:r>
            <a:r>
              <a:rPr lang="ru-RU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коллаборацию</a:t>
            </a:r>
            <a: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с существующими системами лояльности торговых сетей </a:t>
            </a:r>
          </a:p>
          <a:p>
            <a:pPr lvl="0">
              <a:buClr>
                <a:schemeClr val="dk1"/>
              </a:buClr>
              <a:buSzPts val="1600"/>
            </a:pPr>
            <a: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для упрощения регистрации покупок</a:t>
            </a:r>
          </a:p>
          <a:p>
            <a:pPr lvl="0">
              <a:buClr>
                <a:schemeClr val="dk1"/>
              </a:buClr>
              <a:buSzPts val="1600"/>
            </a:pPr>
            <a:endParaRPr lang="ru-RU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1600"/>
            </a:pPr>
            <a: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</a:rPr>
              <a:t>Интегрировать систему регистрации покупок</a:t>
            </a:r>
            <a:endParaRPr dirty="0">
              <a:solidFill>
                <a:schemeClr val="dk1"/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42" name="Google Shape;189;p4"/>
          <p:cNvSpPr txBox="1"/>
          <p:nvPr/>
        </p:nvSpPr>
        <p:spPr>
          <a:xfrm>
            <a:off x="3427840" y="5264173"/>
            <a:ext cx="4765444" cy="13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В зависимости от бонуса потребуется договориться</a:t>
            </a:r>
            <a:b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</a:br>
            <a: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о подарках с ритейлерами или третьими сторонами (например, партнерскими организациями стоматологов или стоматологическими клиниками)</a:t>
            </a:r>
            <a:endParaRPr dirty="0">
              <a:solidFill>
                <a:schemeClr val="dk1"/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6" name="Стрелка вниз 5"/>
          <p:cNvSpPr/>
          <p:nvPr/>
        </p:nvSpPr>
        <p:spPr>
          <a:xfrm rot="16200000">
            <a:off x="7846230" y="2118840"/>
            <a:ext cx="678723" cy="962240"/>
          </a:xfrm>
          <a:prstGeom prst="downArrow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Стрелка вниз 66"/>
          <p:cNvSpPr/>
          <p:nvPr/>
        </p:nvSpPr>
        <p:spPr>
          <a:xfrm rot="16200000">
            <a:off x="7846211" y="3612519"/>
            <a:ext cx="678723" cy="962240"/>
          </a:xfrm>
          <a:prstGeom prst="downArrow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Google Shape;195;p4"/>
          <p:cNvSpPr txBox="1"/>
          <p:nvPr/>
        </p:nvSpPr>
        <p:spPr>
          <a:xfrm>
            <a:off x="4862898" y="1355752"/>
            <a:ext cx="164653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КАК ДЕЛАТЬ</a:t>
            </a:r>
            <a:endParaRPr dirty="0">
              <a:latin typeface="+mj-lt"/>
            </a:endParaRPr>
          </a:p>
        </p:txBody>
      </p:sp>
      <p:sp>
        <p:nvSpPr>
          <p:cNvPr id="70" name="Google Shape;195;p4"/>
          <p:cNvSpPr txBox="1"/>
          <p:nvPr/>
        </p:nvSpPr>
        <p:spPr>
          <a:xfrm>
            <a:off x="9543344" y="1354808"/>
            <a:ext cx="164653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dk1"/>
                </a:solidFill>
                <a:latin typeface="+mj-lt"/>
                <a:cs typeface="Calibri"/>
                <a:sym typeface="Calibri"/>
              </a:rPr>
              <a:t>РЕЗУЛЬТАТ</a:t>
            </a:r>
            <a:endParaRPr dirty="0">
              <a:latin typeface="+mj-lt"/>
            </a:endParaRPr>
          </a:p>
        </p:txBody>
      </p:sp>
      <p:sp>
        <p:nvSpPr>
          <p:cNvPr id="71" name="Прямоугольник 70"/>
          <p:cNvSpPr/>
          <p:nvPr/>
        </p:nvSpPr>
        <p:spPr>
          <a:xfrm>
            <a:off x="196618" y="6399932"/>
            <a:ext cx="3643862" cy="112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Стрелка вправо 53"/>
          <p:cNvSpPr/>
          <p:nvPr/>
        </p:nvSpPr>
        <p:spPr>
          <a:xfrm rot="3301676">
            <a:off x="410487" y="3907346"/>
            <a:ext cx="3244081" cy="879815"/>
          </a:xfrm>
          <a:prstGeom prst="rightArrow">
            <a:avLst>
              <a:gd name="adj1" fmla="val 50000"/>
              <a:gd name="adj2" fmla="val 7569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Стрелка вправо 1"/>
          <p:cNvSpPr/>
          <p:nvPr/>
        </p:nvSpPr>
        <p:spPr>
          <a:xfrm rot="2526645">
            <a:off x="1670887" y="3060461"/>
            <a:ext cx="1656476" cy="879815"/>
          </a:xfrm>
          <a:prstGeom prst="rightArrow">
            <a:avLst>
              <a:gd name="adj1" fmla="val 50000"/>
              <a:gd name="adj2" fmla="val 763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7" name="Google Shape;237;p6"/>
          <p:cNvSpPr txBox="1"/>
          <p:nvPr/>
        </p:nvSpPr>
        <p:spPr>
          <a:xfrm>
            <a:off x="334967" y="580634"/>
            <a:ext cx="11522067" cy="669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Подробное раскрытие инициативы № 2</a:t>
            </a:r>
            <a:endParaRPr dirty="0"/>
          </a:p>
        </p:txBody>
      </p:sp>
      <p:sp>
        <p:nvSpPr>
          <p:cNvPr id="238" name="Google Shape;238;p6"/>
          <p:cNvSpPr txBox="1"/>
          <p:nvPr/>
        </p:nvSpPr>
        <p:spPr>
          <a:xfrm>
            <a:off x="11224591" y="6381750"/>
            <a:ext cx="605941" cy="287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E5353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>
              <a:solidFill>
                <a:srgbClr val="E535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286859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2264122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Анализ рынка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4241385" y="199368"/>
            <a:ext cx="1842809" cy="3674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Инициативы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6177083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Риски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8112781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Команда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10048479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Приложения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Прямоугольник 34"/>
          <p:cNvSpPr/>
          <p:nvPr/>
        </p:nvSpPr>
        <p:spPr>
          <a:xfrm>
            <a:off x="196618" y="6399932"/>
            <a:ext cx="3643862" cy="112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/>
          <p:cNvSpPr/>
          <p:nvPr/>
        </p:nvSpPr>
        <p:spPr>
          <a:xfrm>
            <a:off x="8755982" y="1824395"/>
            <a:ext cx="3222178" cy="140577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Google Shape;192;p4"/>
          <p:cNvSpPr txBox="1"/>
          <p:nvPr/>
        </p:nvSpPr>
        <p:spPr>
          <a:xfrm>
            <a:off x="8916235" y="2043198"/>
            <a:ext cx="3456957" cy="1317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</a:rPr>
              <a:t>Потребитель приобретает </a:t>
            </a:r>
            <a:b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</a:rPr>
            </a:br>
            <a: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</a:rPr>
              <a:t>несколько продуктов </a:t>
            </a:r>
            <a:r>
              <a:rPr lang="ru-RU" dirty="0" err="1">
                <a:solidFill>
                  <a:schemeClr val="dk1"/>
                </a:solidFill>
                <a:latin typeface="+mn-lt"/>
                <a:ea typeface="Calibri"/>
                <a:cs typeface="Calibri"/>
              </a:rPr>
              <a:t>Oral</a:t>
            </a:r>
            <a: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</a:rPr>
              <a:t>-B и </a:t>
            </a:r>
            <a:b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</a:rPr>
            </a:br>
            <a:r>
              <a:rPr lang="en-US" dirty="0">
                <a:solidFill>
                  <a:schemeClr val="dk1"/>
                </a:solidFill>
                <a:latin typeface="+mn-lt"/>
                <a:ea typeface="Calibri"/>
                <a:cs typeface="Calibri"/>
              </a:rPr>
              <a:t>B</a:t>
            </a:r>
            <a:r>
              <a:rPr lang="ru-RU" dirty="0" err="1">
                <a:solidFill>
                  <a:schemeClr val="dk1"/>
                </a:solidFill>
                <a:latin typeface="+mn-lt"/>
                <a:ea typeface="Calibri"/>
                <a:cs typeface="Calibri"/>
              </a:rPr>
              <a:t>lend</a:t>
            </a:r>
            <a: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</a:rPr>
              <a:t>-a-</a:t>
            </a:r>
            <a:r>
              <a:rPr lang="ru-RU" dirty="0" err="1">
                <a:solidFill>
                  <a:schemeClr val="dk1"/>
                </a:solidFill>
                <a:latin typeface="+mn-lt"/>
                <a:ea typeface="Calibri"/>
                <a:cs typeface="Calibri"/>
              </a:rPr>
              <a:t>med</a:t>
            </a:r>
            <a: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</a:rPr>
              <a:t>, в одном пакете, что помогает экономить время</a:t>
            </a:r>
            <a:endParaRPr dirty="0">
              <a:solidFill>
                <a:schemeClr val="dk1"/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38" name="Google Shape;195;p4"/>
          <p:cNvSpPr txBox="1"/>
          <p:nvPr/>
        </p:nvSpPr>
        <p:spPr>
          <a:xfrm>
            <a:off x="384995" y="1347350"/>
            <a:ext cx="164653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ЧТО ДЕЛАТЬ</a:t>
            </a:r>
            <a:endParaRPr dirty="0">
              <a:latin typeface="+mj-lt"/>
            </a:endParaRPr>
          </a:p>
        </p:txBody>
      </p:sp>
      <p:sp>
        <p:nvSpPr>
          <p:cNvPr id="39" name="Прямоугольник 38"/>
          <p:cNvSpPr/>
          <p:nvPr/>
        </p:nvSpPr>
        <p:spPr>
          <a:xfrm>
            <a:off x="3369095" y="1824395"/>
            <a:ext cx="4635061" cy="140577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Google Shape;189;p4"/>
          <p:cNvSpPr txBox="1"/>
          <p:nvPr/>
        </p:nvSpPr>
        <p:spPr>
          <a:xfrm>
            <a:off x="3671561" y="2028901"/>
            <a:ext cx="4765444" cy="13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Проанализировать рынок и потребности </a:t>
            </a:r>
            <a:b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</a:br>
            <a: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покупателей, чтобы определить наиболее </a:t>
            </a:r>
            <a:b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</a:br>
            <a: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популярные и востребованные комбинации </a:t>
            </a:r>
            <a:b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</a:br>
            <a:r>
              <a:rPr lang="ru-RU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продуктов брендов</a:t>
            </a:r>
            <a:endParaRPr dirty="0">
              <a:solidFill>
                <a:schemeClr val="dk1"/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41" name="Выноска со стрелкой вправо 40"/>
          <p:cNvSpPr/>
          <p:nvPr/>
        </p:nvSpPr>
        <p:spPr>
          <a:xfrm>
            <a:off x="200231" y="1824395"/>
            <a:ext cx="2992100" cy="1405810"/>
          </a:xfrm>
          <a:prstGeom prst="rightArrowCallout">
            <a:avLst>
              <a:gd name="adj1" fmla="val 25000"/>
              <a:gd name="adj2" fmla="val 30477"/>
              <a:gd name="adj3" fmla="val 46909"/>
              <a:gd name="adj4" fmla="val 6497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Google Shape;186;p4"/>
          <p:cNvSpPr txBox="1"/>
          <p:nvPr/>
        </p:nvSpPr>
        <p:spPr>
          <a:xfrm>
            <a:off x="281060" y="1951602"/>
            <a:ext cx="1835155" cy="1317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lt1"/>
              </a:buClr>
              <a:buSzPts val="1600"/>
            </a:pPr>
            <a:r>
              <a:rPr lang="ru-RU" sz="1600" b="1" dirty="0">
                <a:solidFill>
                  <a:schemeClr val="lt1"/>
                </a:solidFill>
                <a:latin typeface="+mn-lt"/>
                <a:cs typeface="Calibri" panose="020F0502020204030204" pitchFamily="34" charset="0"/>
              </a:rPr>
              <a:t>Создать </a:t>
            </a:r>
            <a:r>
              <a:rPr lang="ru-RU" sz="1600" b="1" dirty="0" err="1">
                <a:solidFill>
                  <a:schemeClr val="lt1"/>
                </a:solidFill>
                <a:latin typeface="+mn-lt"/>
                <a:cs typeface="Calibri" panose="020F0502020204030204" pitchFamily="34" charset="0"/>
              </a:rPr>
              <a:t>комбо</a:t>
            </a:r>
            <a:r>
              <a:rPr lang="ru-RU" sz="1600" b="1" dirty="0">
                <a:solidFill>
                  <a:schemeClr val="lt1"/>
                </a:solidFill>
                <a:latin typeface="+mn-lt"/>
                <a:cs typeface="Calibri" panose="020F0502020204030204" pitchFamily="34" charset="0"/>
              </a:rPr>
              <a:t>-наборы из продуктов </a:t>
            </a:r>
            <a:r>
              <a:rPr lang="ru-RU" sz="1600" b="1" dirty="0" err="1">
                <a:solidFill>
                  <a:schemeClr val="lt1"/>
                </a:solidFill>
                <a:latin typeface="+mn-lt"/>
                <a:cs typeface="Calibri" panose="020F0502020204030204" pitchFamily="34" charset="0"/>
              </a:rPr>
              <a:t>Oral</a:t>
            </a:r>
            <a:r>
              <a:rPr lang="ru-RU" sz="1600" b="1" dirty="0">
                <a:solidFill>
                  <a:schemeClr val="lt1"/>
                </a:solidFill>
                <a:latin typeface="+mn-lt"/>
                <a:cs typeface="Calibri" panose="020F0502020204030204" pitchFamily="34" charset="0"/>
              </a:rPr>
              <a:t>-B и </a:t>
            </a:r>
            <a:r>
              <a:rPr lang="ru-RU" sz="1600" b="1" dirty="0" err="1">
                <a:solidFill>
                  <a:schemeClr val="lt1"/>
                </a:solidFill>
                <a:latin typeface="+mn-lt"/>
                <a:cs typeface="Calibri" panose="020F0502020204030204" pitchFamily="34" charset="0"/>
              </a:rPr>
              <a:t>Blend</a:t>
            </a:r>
            <a:r>
              <a:rPr lang="ru-RU" sz="1600" b="1" dirty="0">
                <a:solidFill>
                  <a:schemeClr val="lt1"/>
                </a:solidFill>
                <a:latin typeface="+mn-lt"/>
                <a:cs typeface="Calibri" panose="020F0502020204030204" pitchFamily="34" charset="0"/>
              </a:rPr>
              <a:t>-a-</a:t>
            </a:r>
            <a:r>
              <a:rPr lang="ru-RU" sz="1600" b="1" dirty="0" err="1">
                <a:solidFill>
                  <a:schemeClr val="lt1"/>
                </a:solidFill>
                <a:latin typeface="+mn-lt"/>
                <a:cs typeface="Calibri" panose="020F0502020204030204" pitchFamily="34" charset="0"/>
              </a:rPr>
              <a:t>med</a:t>
            </a:r>
            <a:endParaRPr sz="1600" b="1" dirty="0">
              <a:solidFill>
                <a:schemeClr val="lt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43" name="Google Shape;195;p4"/>
          <p:cNvSpPr txBox="1"/>
          <p:nvPr/>
        </p:nvSpPr>
        <p:spPr>
          <a:xfrm>
            <a:off x="4862898" y="1355752"/>
            <a:ext cx="164653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КАК ДЕЛАТЬ</a:t>
            </a:r>
            <a:endParaRPr dirty="0">
              <a:latin typeface="+mj-lt"/>
            </a:endParaRPr>
          </a:p>
        </p:txBody>
      </p:sp>
      <p:sp>
        <p:nvSpPr>
          <p:cNvPr id="44" name="Google Shape;195;p4"/>
          <p:cNvSpPr txBox="1"/>
          <p:nvPr/>
        </p:nvSpPr>
        <p:spPr>
          <a:xfrm>
            <a:off x="9543344" y="1354808"/>
            <a:ext cx="164653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dk1"/>
                </a:solidFill>
                <a:latin typeface="+mj-lt"/>
                <a:cs typeface="Calibri"/>
                <a:sym typeface="Calibri"/>
              </a:rPr>
              <a:t>РЕЗУЛЬТАТ</a:t>
            </a:r>
            <a:endParaRPr dirty="0">
              <a:latin typeface="+mj-lt"/>
            </a:endParaRPr>
          </a:p>
        </p:txBody>
      </p:sp>
      <p:sp>
        <p:nvSpPr>
          <p:cNvPr id="50" name="Прямоугольник 49"/>
          <p:cNvSpPr/>
          <p:nvPr/>
        </p:nvSpPr>
        <p:spPr>
          <a:xfrm>
            <a:off x="8755982" y="3459501"/>
            <a:ext cx="3222178" cy="140577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Google Shape;192;p4"/>
          <p:cNvSpPr txBox="1"/>
          <p:nvPr/>
        </p:nvSpPr>
        <p:spPr>
          <a:xfrm>
            <a:off x="8859430" y="3589630"/>
            <a:ext cx="3456957" cy="1317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ru-RU" dirty="0"/>
              <a:t>Увеличение продаж и доли рынка брендов </a:t>
            </a:r>
            <a:r>
              <a:rPr lang="ru-RU" dirty="0" err="1"/>
              <a:t>Oral</a:t>
            </a:r>
            <a:r>
              <a:rPr lang="ru-RU" dirty="0"/>
              <a:t>-B и </a:t>
            </a:r>
            <a:r>
              <a:rPr lang="ru-RU" dirty="0" err="1"/>
              <a:t>Blend</a:t>
            </a:r>
            <a:r>
              <a:rPr lang="ru-RU" dirty="0"/>
              <a:t>-a-</a:t>
            </a:r>
            <a:r>
              <a:rPr lang="ru-RU" dirty="0" err="1"/>
              <a:t>med</a:t>
            </a:r>
            <a:r>
              <a:rPr lang="ru-RU" dirty="0"/>
              <a:t>, </a:t>
            </a:r>
          </a:p>
          <a:p>
            <a:pPr>
              <a:buClr>
                <a:schemeClr val="dk1"/>
              </a:buClr>
              <a:buSzPts val="1600"/>
            </a:pPr>
            <a:r>
              <a:rPr lang="ru-RU" dirty="0"/>
              <a:t>а также укрепление их имиджа как лидеров в индустрии ухода за полостью рта</a:t>
            </a:r>
            <a:endParaRPr dirty="0">
              <a:solidFill>
                <a:schemeClr val="dk1"/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52" name="Прямоугольник 51"/>
          <p:cNvSpPr/>
          <p:nvPr/>
        </p:nvSpPr>
        <p:spPr>
          <a:xfrm>
            <a:off x="3369095" y="3459501"/>
            <a:ext cx="4635061" cy="140577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Google Shape;189;p4"/>
          <p:cNvSpPr txBox="1"/>
          <p:nvPr/>
        </p:nvSpPr>
        <p:spPr>
          <a:xfrm>
            <a:off x="3671561" y="3767225"/>
            <a:ext cx="4765444" cy="13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ru-RU" dirty="0"/>
              <a:t>Сформировать </a:t>
            </a:r>
            <a:r>
              <a:rPr lang="ru-RU" dirty="0" err="1"/>
              <a:t>комбо</a:t>
            </a:r>
            <a:r>
              <a:rPr lang="ru-RU" dirty="0"/>
              <a:t>-наборы, включающие </a:t>
            </a:r>
            <a:br>
              <a:rPr lang="ru-RU" dirty="0"/>
            </a:br>
            <a:r>
              <a:rPr lang="ru-RU" dirty="0"/>
              <a:t>продукты брендов </a:t>
            </a:r>
            <a:r>
              <a:rPr lang="ru-RU" dirty="0" err="1"/>
              <a:t>Oral</a:t>
            </a:r>
            <a:r>
              <a:rPr lang="ru-RU" dirty="0"/>
              <a:t>-B и </a:t>
            </a:r>
            <a:r>
              <a:rPr lang="ru-RU" dirty="0" err="1"/>
              <a:t>Blend</a:t>
            </a:r>
            <a:r>
              <a:rPr lang="ru-RU" dirty="0"/>
              <a:t>-a-</a:t>
            </a:r>
            <a:r>
              <a:rPr lang="ru-RU" dirty="0" err="1"/>
              <a:t>med</a:t>
            </a:r>
            <a:r>
              <a:rPr lang="ru-RU" dirty="0"/>
              <a:t>, и </a:t>
            </a:r>
            <a:br>
              <a:rPr lang="ru-RU" dirty="0"/>
            </a:br>
            <a:r>
              <a:rPr lang="ru-RU" dirty="0"/>
              <a:t>создать упаковку для них</a:t>
            </a:r>
            <a:endParaRPr dirty="0">
              <a:solidFill>
                <a:schemeClr val="dk1"/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55" name="Прямоугольник 54"/>
          <p:cNvSpPr/>
          <p:nvPr/>
        </p:nvSpPr>
        <p:spPr>
          <a:xfrm>
            <a:off x="8755982" y="5068385"/>
            <a:ext cx="3222178" cy="140577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Google Shape;192;p4"/>
          <p:cNvSpPr txBox="1"/>
          <p:nvPr/>
        </p:nvSpPr>
        <p:spPr>
          <a:xfrm>
            <a:off x="8859430" y="5360166"/>
            <a:ext cx="3456957" cy="1317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ru-RU" dirty="0"/>
              <a:t>Увеличение прибыли, за счёт </a:t>
            </a:r>
          </a:p>
          <a:p>
            <a:pPr>
              <a:buClr>
                <a:schemeClr val="dk1"/>
              </a:buClr>
              <a:buSzPts val="1600"/>
            </a:pPr>
            <a:r>
              <a:rPr lang="ru-RU" dirty="0"/>
              <a:t>продажи не очень востребованных продуктов</a:t>
            </a:r>
            <a:endParaRPr dirty="0">
              <a:solidFill>
                <a:schemeClr val="dk1"/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57" name="Прямоугольник 56"/>
          <p:cNvSpPr/>
          <p:nvPr/>
        </p:nvSpPr>
        <p:spPr>
          <a:xfrm>
            <a:off x="3369095" y="5068385"/>
            <a:ext cx="4635061" cy="140577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Google Shape;189;p4"/>
          <p:cNvSpPr txBox="1"/>
          <p:nvPr/>
        </p:nvSpPr>
        <p:spPr>
          <a:xfrm>
            <a:off x="3671561" y="5376109"/>
            <a:ext cx="4765444" cy="13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ru-RU" dirty="0"/>
              <a:t>Провести маркетинговые исследования для определения оптимальной цены для </a:t>
            </a:r>
            <a:br>
              <a:rPr lang="ru-RU" dirty="0"/>
            </a:br>
            <a:r>
              <a:rPr lang="ru-RU" dirty="0" err="1"/>
              <a:t>комбо</a:t>
            </a:r>
            <a:r>
              <a:rPr lang="ru-RU" dirty="0"/>
              <a:t>-наборов</a:t>
            </a:r>
            <a:endParaRPr dirty="0">
              <a:solidFill>
                <a:schemeClr val="dk1"/>
              </a:solidFill>
              <a:latin typeface="+mn-lt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"/>
          <p:cNvSpPr txBox="1"/>
          <p:nvPr/>
        </p:nvSpPr>
        <p:spPr>
          <a:xfrm>
            <a:off x="334967" y="580634"/>
            <a:ext cx="11522067" cy="669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Подробное раскрытие инициативы № </a:t>
            </a:r>
            <a:r>
              <a:rPr lang="ru-RU" sz="1800" dirty="0">
                <a:solidFill>
                  <a:srgbClr val="7F7F7F"/>
                </a:solidFill>
              </a:rPr>
              <a:t>3</a:t>
            </a:r>
            <a:endParaRPr dirty="0"/>
          </a:p>
        </p:txBody>
      </p:sp>
      <p:grpSp>
        <p:nvGrpSpPr>
          <p:cNvPr id="31" name="Группа 30"/>
          <p:cNvGrpSpPr/>
          <p:nvPr/>
        </p:nvGrpSpPr>
        <p:grpSpPr>
          <a:xfrm>
            <a:off x="7392144" y="1341438"/>
            <a:ext cx="4464894" cy="2319263"/>
            <a:chOff x="7392144" y="1341438"/>
            <a:chExt cx="4464894" cy="2319263"/>
          </a:xfrm>
        </p:grpSpPr>
        <p:sp>
          <p:nvSpPr>
            <p:cNvPr id="214" name="Google Shape;214;p5"/>
            <p:cNvSpPr/>
            <p:nvPr/>
          </p:nvSpPr>
          <p:spPr>
            <a:xfrm>
              <a:off x="7392144" y="1341438"/>
              <a:ext cx="4464894" cy="50338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b="1" dirty="0" err="1">
                  <a:solidFill>
                    <a:schemeClr val="lt1"/>
                  </a:solidFill>
                  <a:sym typeface="Arial"/>
                </a:rPr>
                <a:t>Месседж</a:t>
              </a:r>
              <a:endParaRPr b="1" dirty="0"/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7392144" y="1844824"/>
              <a:ext cx="4464894" cy="18002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5"/>
            <p:cNvSpPr txBox="1"/>
            <p:nvPr/>
          </p:nvSpPr>
          <p:spPr>
            <a:xfrm>
              <a:off x="7392144" y="1844860"/>
              <a:ext cx="4464894" cy="18158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fontAlgn="t"/>
              <a:r>
                <a:rPr lang="ru-RU" dirty="0">
                  <a:latin typeface="Arial" panose="020B0604020202020204" pitchFamily="34" charset="0"/>
                </a:rPr>
                <a:t>47% клиентов покупают зубные щетки среднего ценового сегмента, 37% пользуются зубными щетками низкого ценового сегмента, потенциально эти люди могут быть привлечены к покупке более дорогих щеток, если в магазине для них будет создана картина выгоды и экономии на щетках среднего ценового сегмента, а щетки низкого ценового сегмента окажутся вне поля зрения</a:t>
              </a:r>
              <a:endParaRPr lang="ru-RU" dirty="0"/>
            </a:p>
          </p:txBody>
        </p:sp>
      </p:grpSp>
      <p:grpSp>
        <p:nvGrpSpPr>
          <p:cNvPr id="30" name="Группа 29"/>
          <p:cNvGrpSpPr/>
          <p:nvPr/>
        </p:nvGrpSpPr>
        <p:grpSpPr>
          <a:xfrm>
            <a:off x="7392144" y="4083130"/>
            <a:ext cx="4464894" cy="2319263"/>
            <a:chOff x="7392144" y="3928657"/>
            <a:chExt cx="4464894" cy="2319263"/>
          </a:xfrm>
        </p:grpSpPr>
        <p:sp>
          <p:nvSpPr>
            <p:cNvPr id="220" name="Google Shape;220;p5"/>
            <p:cNvSpPr/>
            <p:nvPr/>
          </p:nvSpPr>
          <p:spPr>
            <a:xfrm>
              <a:off x="7392144" y="3928657"/>
              <a:ext cx="4464894" cy="50338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b="1" dirty="0" err="1">
                  <a:solidFill>
                    <a:schemeClr val="lt1"/>
                  </a:solidFill>
                  <a:sym typeface="Arial"/>
                </a:rPr>
                <a:t>Месседж</a:t>
              </a:r>
              <a:endParaRPr b="1" dirty="0"/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7392144" y="4432043"/>
              <a:ext cx="4464894" cy="18002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5"/>
            <p:cNvSpPr txBox="1"/>
            <p:nvPr/>
          </p:nvSpPr>
          <p:spPr>
            <a:xfrm>
              <a:off x="7392144" y="4432079"/>
              <a:ext cx="4464894" cy="18158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fontAlgn="t"/>
              <a:r>
                <a:rPr lang="ru-RU" dirty="0">
                  <a:latin typeface="Arial" panose="020B0604020202020204" pitchFamily="34" charset="0"/>
                </a:rPr>
                <a:t>Средний сегмент более зависим от влияния цены продажи, однако его низкая зависимость от кол-ва SKU на полке позволит легче заменить им низкий сегмент (этот показатель у низкого и среднего сегмента практически идентичен). Эта черта делает средний сегмент подходящим для небольших магазинов с ограниченной площадью полок, его легче внедрить по плану инициативы 4</a:t>
              </a:r>
              <a:endParaRPr lang="ru-RU" dirty="0"/>
            </a:p>
          </p:txBody>
        </p:sp>
      </p:grpSp>
      <p:sp>
        <p:nvSpPr>
          <p:cNvPr id="224" name="Google Shape;224;p5"/>
          <p:cNvSpPr txBox="1"/>
          <p:nvPr/>
        </p:nvSpPr>
        <p:spPr>
          <a:xfrm>
            <a:off x="11224591" y="6381750"/>
            <a:ext cx="605941" cy="287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E5353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400">
              <a:solidFill>
                <a:srgbClr val="E535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286859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2264122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Анализ рынка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4241385" y="199368"/>
            <a:ext cx="1842809" cy="3674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Инициативы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6177083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Риски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8112781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Команда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10048479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Приложения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196618" y="6399932"/>
            <a:ext cx="3643862" cy="112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4" name="Диаграмма 3"/>
          <p:cNvGraphicFramePr/>
          <p:nvPr>
            <p:extLst>
              <p:ext uri="{D42A27DB-BD31-4B8C-83A1-F6EECF244321}">
                <p14:modId xmlns:p14="http://schemas.microsoft.com/office/powerpoint/2010/main" val="2868822136"/>
              </p:ext>
            </p:extLst>
          </p:nvPr>
        </p:nvGraphicFramePr>
        <p:xfrm>
          <a:off x="830661" y="1191345"/>
          <a:ext cx="4093690" cy="26839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3" name="Группа 22"/>
          <p:cNvGrpSpPr/>
          <p:nvPr/>
        </p:nvGrpSpPr>
        <p:grpSpPr>
          <a:xfrm>
            <a:off x="56074" y="4032914"/>
            <a:ext cx="5551292" cy="2771910"/>
            <a:chOff x="3092194" y="4148410"/>
            <a:chExt cx="5551292" cy="2771910"/>
          </a:xfrm>
        </p:grpSpPr>
        <p:cxnSp>
          <p:nvCxnSpPr>
            <p:cNvPr id="8" name="Прямая со стрелкой 7"/>
            <p:cNvCxnSpPr/>
            <p:nvPr/>
          </p:nvCxnSpPr>
          <p:spPr>
            <a:xfrm flipV="1">
              <a:off x="4435109" y="4148410"/>
              <a:ext cx="0" cy="2307964"/>
            </a:xfrm>
            <a:prstGeom prst="straightConnector1">
              <a:avLst/>
            </a:prstGeom>
            <a:ln w="28575">
              <a:solidFill>
                <a:srgbClr val="0D0D0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 стрелкой 9"/>
            <p:cNvCxnSpPr/>
            <p:nvPr/>
          </p:nvCxnSpPr>
          <p:spPr>
            <a:xfrm>
              <a:off x="4437246" y="6456374"/>
              <a:ext cx="4206240" cy="0"/>
            </a:xfrm>
            <a:prstGeom prst="straightConnector1">
              <a:avLst/>
            </a:prstGeom>
            <a:ln w="28575">
              <a:solidFill>
                <a:srgbClr val="0D0D0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3092194" y="4859083"/>
              <a:ext cx="1303562" cy="438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900"/>
                </a:lnSpc>
              </a:pPr>
              <a:r>
                <a:rPr lang="ru-RU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Зависимость</a:t>
              </a:r>
              <a:br>
                <a:rPr lang="ru-RU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ru-RU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продаж от</a:t>
              </a:r>
              <a:br>
                <a:rPr lang="ru-RU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ru-RU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изменения </a:t>
              </a:r>
              <a:r>
                <a:rPr lang="ru-RU" sz="1050" b="1" dirty="0">
                  <a:solidFill>
                    <a:srgbClr val="FF0000"/>
                  </a:solidFill>
                </a:rPr>
                <a:t>цены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772895" y="6595359"/>
              <a:ext cx="3534942" cy="3249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900"/>
                </a:lnSpc>
              </a:pPr>
              <a:r>
                <a:rPr lang="ru-RU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Зависимость продаж от изменения </a:t>
              </a:r>
              <a:r>
                <a:rPr lang="ru-RU" sz="1050" b="1" dirty="0">
                  <a:solidFill>
                    <a:srgbClr val="FF0000"/>
                  </a:solidFill>
                </a:rPr>
                <a:t>ассортимента</a:t>
              </a:r>
              <a:br>
                <a:rPr lang="ru-RU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ru-RU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(кол-ва </a:t>
              </a:r>
              <a:r>
                <a:rPr lang="en-US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SKU </a:t>
              </a:r>
              <a:r>
                <a:rPr lang="ru-RU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на полке)</a:t>
              </a:r>
            </a:p>
          </p:txBody>
        </p:sp>
        <p:sp>
          <p:nvSpPr>
            <p:cNvPr id="12" name="Овал 11"/>
            <p:cNvSpPr/>
            <p:nvPr/>
          </p:nvSpPr>
          <p:spPr>
            <a:xfrm>
              <a:off x="5138810" y="5594230"/>
              <a:ext cx="160867" cy="160867"/>
            </a:xfrm>
            <a:prstGeom prst="ellipse">
              <a:avLst/>
            </a:prstGeom>
            <a:solidFill>
              <a:srgbClr val="A5A5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Овал 40"/>
            <p:cNvSpPr/>
            <p:nvPr/>
          </p:nvSpPr>
          <p:spPr>
            <a:xfrm>
              <a:off x="5752759" y="5622307"/>
              <a:ext cx="160867" cy="16086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Овал 41"/>
            <p:cNvSpPr/>
            <p:nvPr/>
          </p:nvSpPr>
          <p:spPr>
            <a:xfrm>
              <a:off x="7478170" y="5078374"/>
              <a:ext cx="160867" cy="16086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Овал 42"/>
            <p:cNvSpPr/>
            <p:nvPr/>
          </p:nvSpPr>
          <p:spPr>
            <a:xfrm>
              <a:off x="6282754" y="4493541"/>
              <a:ext cx="160867" cy="160867"/>
            </a:xfrm>
            <a:prstGeom prst="ellipse">
              <a:avLst/>
            </a:prstGeom>
            <a:solidFill>
              <a:srgbClr val="A5A5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Овал 43"/>
            <p:cNvSpPr/>
            <p:nvPr/>
          </p:nvSpPr>
          <p:spPr>
            <a:xfrm>
              <a:off x="7037093" y="5197391"/>
              <a:ext cx="160867" cy="160867"/>
            </a:xfrm>
            <a:prstGeom prst="ellipse">
              <a:avLst/>
            </a:prstGeom>
            <a:solidFill>
              <a:srgbClr val="A5A5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8" name="Прямая со стрелкой 17"/>
            <p:cNvCxnSpPr/>
            <p:nvPr/>
          </p:nvCxnSpPr>
          <p:spPr>
            <a:xfrm>
              <a:off x="5299677" y="5669357"/>
              <a:ext cx="353373" cy="333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 стрелкой 19"/>
            <p:cNvCxnSpPr/>
            <p:nvPr/>
          </p:nvCxnSpPr>
          <p:spPr>
            <a:xfrm flipH="1">
              <a:off x="6093646" y="4573974"/>
              <a:ext cx="1660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 стрелкой 21"/>
            <p:cNvCxnSpPr/>
            <p:nvPr/>
          </p:nvCxnSpPr>
          <p:spPr>
            <a:xfrm flipV="1">
              <a:off x="7212124" y="5170743"/>
              <a:ext cx="180020" cy="684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4835722" y="4555446"/>
              <a:ext cx="1221809" cy="348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000"/>
                </a:lnSpc>
              </a:pPr>
              <a:r>
                <a:rPr lang="ru-RU" sz="10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Средний </a:t>
              </a:r>
              <a:br>
                <a:rPr lang="ru-RU" sz="10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ru-RU" sz="10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цен.сегмент-22 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502829" y="4521173"/>
              <a:ext cx="1175322" cy="348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000"/>
                </a:lnSpc>
              </a:pPr>
              <a:r>
                <a:rPr lang="ru-RU" sz="10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Средний </a:t>
              </a:r>
              <a:br>
                <a:rPr lang="ru-RU" sz="10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ru-RU" sz="10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цен.сегмент-21 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669731" y="5029351"/>
              <a:ext cx="955711" cy="220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000"/>
                </a:lnSpc>
              </a:pPr>
              <a:r>
                <a:rPr lang="ru-RU" sz="10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Премиум-22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639670" y="5387163"/>
              <a:ext cx="955711" cy="220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000"/>
                </a:lnSpc>
              </a:pPr>
              <a:r>
                <a:rPr lang="ru-RU" sz="10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Премиум-21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881933" y="5871273"/>
              <a:ext cx="1175322" cy="348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000"/>
                </a:lnSpc>
              </a:pPr>
              <a:r>
                <a:rPr lang="ru-RU" sz="10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Низкий </a:t>
              </a:r>
              <a:br>
                <a:rPr lang="ru-RU" sz="10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ru-RU" sz="10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цен.сегмент-22 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682009" y="5866830"/>
              <a:ext cx="1175322" cy="348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000"/>
                </a:lnSpc>
              </a:pPr>
              <a:r>
                <a:rPr lang="ru-RU" sz="10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Низкий </a:t>
              </a:r>
              <a:br>
                <a:rPr lang="ru-RU" sz="10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ru-RU" sz="10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цен.сегмент-21 </a:t>
              </a:r>
            </a:p>
          </p:txBody>
        </p:sp>
      </p:grpSp>
      <p:cxnSp>
        <p:nvCxnSpPr>
          <p:cNvPr id="62" name="Прямая соединительная линия 61"/>
          <p:cNvCxnSpPr/>
          <p:nvPr/>
        </p:nvCxnSpPr>
        <p:spPr>
          <a:xfrm>
            <a:off x="-211309" y="3875289"/>
            <a:ext cx="1312720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Овал 63"/>
          <p:cNvSpPr/>
          <p:nvPr/>
        </p:nvSpPr>
        <p:spPr>
          <a:xfrm>
            <a:off x="2872083" y="4378614"/>
            <a:ext cx="160867" cy="1608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8359154" y="22512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" name="Rectangle 8"/>
          <p:cNvSpPr>
            <a:spLocks noChangeArrowheads="1"/>
          </p:cNvSpPr>
          <p:nvPr/>
        </p:nvSpPr>
        <p:spPr bwMode="auto">
          <a:xfrm>
            <a:off x="3230563" y="35194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"/>
          <p:cNvSpPr txBox="1"/>
          <p:nvPr/>
        </p:nvSpPr>
        <p:spPr>
          <a:xfrm>
            <a:off x="334967" y="580634"/>
            <a:ext cx="11522067" cy="669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</a:pPr>
            <a:r>
              <a:rPr lang="ru-RU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Предлагаемый к реализации проект имеет ряд рисков с разработанной стратегией их нивелирования </a:t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2416524" y="1362463"/>
            <a:ext cx="184056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sym typeface="Arial"/>
              </a:rPr>
              <a:t>Матрица рисков</a:t>
            </a:r>
            <a:endParaRPr dirty="0"/>
          </a:p>
        </p:txBody>
      </p:sp>
      <p:grpSp>
        <p:nvGrpSpPr>
          <p:cNvPr id="278" name="Google Shape;278;p7"/>
          <p:cNvGrpSpPr/>
          <p:nvPr/>
        </p:nvGrpSpPr>
        <p:grpSpPr>
          <a:xfrm>
            <a:off x="775235" y="1955016"/>
            <a:ext cx="4891765" cy="3863511"/>
            <a:chOff x="775235" y="1955016"/>
            <a:chExt cx="4891765" cy="3863511"/>
          </a:xfrm>
        </p:grpSpPr>
        <p:sp>
          <p:nvSpPr>
            <p:cNvPr id="279" name="Google Shape;279;p7"/>
            <p:cNvSpPr/>
            <p:nvPr/>
          </p:nvSpPr>
          <p:spPr>
            <a:xfrm rot="10800000">
              <a:off x="1423119" y="5549277"/>
              <a:ext cx="4243877" cy="269250"/>
            </a:xfrm>
            <a:prstGeom prst="rtTriangl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7"/>
            <p:cNvSpPr/>
            <p:nvPr/>
          </p:nvSpPr>
          <p:spPr>
            <a:xfrm rot="-5400000" flipH="1">
              <a:off x="-705220" y="3445754"/>
              <a:ext cx="3368842" cy="407932"/>
            </a:xfrm>
            <a:prstGeom prst="rtTriangl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7"/>
            <p:cNvSpPr/>
            <p:nvPr/>
          </p:nvSpPr>
          <p:spPr>
            <a:xfrm>
              <a:off x="1320596" y="3115257"/>
              <a:ext cx="1442038" cy="1158936"/>
            </a:xfrm>
            <a:prstGeom prst="rect">
              <a:avLst/>
            </a:prstGeom>
            <a:solidFill>
              <a:srgbClr val="E3E3E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7"/>
            <p:cNvSpPr/>
            <p:nvPr/>
          </p:nvSpPr>
          <p:spPr>
            <a:xfrm>
              <a:off x="1320596" y="4304759"/>
              <a:ext cx="1442039" cy="1158936"/>
            </a:xfrm>
            <a:prstGeom prst="rect">
              <a:avLst/>
            </a:prstGeom>
            <a:solidFill>
              <a:srgbClr val="EFEFEF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7"/>
            <p:cNvSpPr/>
            <p:nvPr/>
          </p:nvSpPr>
          <p:spPr>
            <a:xfrm>
              <a:off x="2773560" y="4272889"/>
              <a:ext cx="1442038" cy="1158936"/>
            </a:xfrm>
            <a:prstGeom prst="rect">
              <a:avLst/>
            </a:prstGeom>
            <a:solidFill>
              <a:srgbClr val="E3E3E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99CC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1320596" y="1957626"/>
              <a:ext cx="1442038" cy="1158936"/>
            </a:xfrm>
            <a:prstGeom prst="rect">
              <a:avLst/>
            </a:prstGeom>
            <a:solidFill>
              <a:srgbClr val="92929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CCFF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7"/>
            <p:cNvSpPr/>
            <p:nvPr/>
          </p:nvSpPr>
          <p:spPr>
            <a:xfrm>
              <a:off x="2773560" y="1955016"/>
              <a:ext cx="1442038" cy="1158936"/>
            </a:xfrm>
            <a:prstGeom prst="rect">
              <a:avLst/>
            </a:prstGeom>
            <a:solidFill>
              <a:srgbClr val="565656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7"/>
            <p:cNvSpPr/>
            <p:nvPr/>
          </p:nvSpPr>
          <p:spPr>
            <a:xfrm>
              <a:off x="4224961" y="1955016"/>
              <a:ext cx="1442038" cy="1158936"/>
            </a:xfrm>
            <a:prstGeom prst="rect">
              <a:avLst/>
            </a:prstGeom>
            <a:solidFill>
              <a:srgbClr val="32323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339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7"/>
            <p:cNvSpPr/>
            <p:nvPr/>
          </p:nvSpPr>
          <p:spPr>
            <a:xfrm>
              <a:off x="4224961" y="4272889"/>
              <a:ext cx="1442039" cy="1158936"/>
            </a:xfrm>
            <a:prstGeom prst="rect">
              <a:avLst/>
            </a:prstGeom>
            <a:solidFill>
              <a:srgbClr val="92929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CCFF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7"/>
            <p:cNvSpPr/>
            <p:nvPr/>
          </p:nvSpPr>
          <p:spPr>
            <a:xfrm>
              <a:off x="4224961" y="3113952"/>
              <a:ext cx="1442038" cy="1158936"/>
            </a:xfrm>
            <a:prstGeom prst="rect">
              <a:avLst/>
            </a:prstGeom>
            <a:solidFill>
              <a:srgbClr val="55555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33CC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7"/>
            <p:cNvSpPr/>
            <p:nvPr/>
          </p:nvSpPr>
          <p:spPr>
            <a:xfrm>
              <a:off x="2773560" y="3113952"/>
              <a:ext cx="1442038" cy="1158936"/>
            </a:xfrm>
            <a:prstGeom prst="rect">
              <a:avLst/>
            </a:prstGeom>
            <a:solidFill>
              <a:srgbClr val="B6B6B6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CCFF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0" name="Google Shape;290;p7"/>
          <p:cNvSpPr txBox="1"/>
          <p:nvPr/>
        </p:nvSpPr>
        <p:spPr>
          <a:xfrm>
            <a:off x="1835789" y="5874218"/>
            <a:ext cx="287719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Вероятность возникновения</a:t>
            </a:r>
            <a:endParaRPr/>
          </a:p>
        </p:txBody>
      </p:sp>
      <p:sp>
        <p:nvSpPr>
          <p:cNvPr id="291" name="Google Shape;291;p7"/>
          <p:cNvSpPr txBox="1"/>
          <p:nvPr/>
        </p:nvSpPr>
        <p:spPr>
          <a:xfrm rot="-5400000">
            <a:off x="-394135" y="3531218"/>
            <a:ext cx="183197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Степень влияния</a:t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6153494" y="3785141"/>
            <a:ext cx="400306" cy="385068"/>
          </a:xfrm>
          <a:prstGeom prst="ellipse">
            <a:avLst/>
          </a:prstGeom>
          <a:solidFill>
            <a:srgbClr val="FF0000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025" tIns="40500" rIns="81025" bIns="40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bg1"/>
                </a:solidFill>
                <a:sym typeface="Arial"/>
              </a:rPr>
              <a:t>3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6153494" y="4752508"/>
            <a:ext cx="400306" cy="385068"/>
          </a:xfrm>
          <a:prstGeom prst="ellipse">
            <a:avLst/>
          </a:prstGeom>
          <a:solidFill>
            <a:srgbClr val="FF0000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025" tIns="40500" rIns="81025" bIns="40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bg1"/>
                </a:solidFill>
                <a:sym typeface="Arial"/>
              </a:rPr>
              <a:t>4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6153494" y="2844842"/>
            <a:ext cx="400306" cy="385068"/>
          </a:xfrm>
          <a:prstGeom prst="ellipse">
            <a:avLst/>
          </a:prstGeom>
          <a:solidFill>
            <a:srgbClr val="FF0000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025" tIns="40500" rIns="81025" bIns="40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bg1"/>
                </a:solidFill>
                <a:sym typeface="Arial"/>
              </a:rPr>
              <a:t>2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6153494" y="5775421"/>
            <a:ext cx="400306" cy="385068"/>
          </a:xfrm>
          <a:prstGeom prst="ellipse">
            <a:avLst/>
          </a:prstGeom>
          <a:solidFill>
            <a:srgbClr val="FF0000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025" tIns="40500" rIns="81025" bIns="40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bg1"/>
                </a:solidFill>
                <a:sym typeface="Arial"/>
              </a:rPr>
              <a:t>5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6153494" y="1955016"/>
            <a:ext cx="400306" cy="385068"/>
          </a:xfrm>
          <a:prstGeom prst="ellipse">
            <a:avLst/>
          </a:prstGeom>
          <a:solidFill>
            <a:srgbClr val="FF0000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025" tIns="40500" rIns="81025" bIns="40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bg1"/>
                </a:solidFill>
                <a:sym typeface="Arial"/>
              </a:rPr>
              <a:t>1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297" name="Google Shape;297;p7"/>
          <p:cNvSpPr txBox="1"/>
          <p:nvPr/>
        </p:nvSpPr>
        <p:spPr>
          <a:xfrm>
            <a:off x="6575433" y="1778203"/>
            <a:ext cx="213834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dirty="0"/>
              <a:t>Недостаточная </a:t>
            </a:r>
            <a:br>
              <a:rPr lang="ru-RU" dirty="0"/>
            </a:br>
            <a:r>
              <a:rPr lang="ru-RU" dirty="0"/>
              <a:t>заинтересованность</a:t>
            </a:r>
          </a:p>
          <a:p>
            <a:pPr lvl="0"/>
            <a:r>
              <a:rPr lang="ru-RU" dirty="0"/>
              <a:t>покупателей</a:t>
            </a:r>
            <a:endParaRPr dirty="0"/>
          </a:p>
        </p:txBody>
      </p:sp>
      <p:sp>
        <p:nvSpPr>
          <p:cNvPr id="302" name="Google Shape;302;p7"/>
          <p:cNvSpPr/>
          <p:nvPr/>
        </p:nvSpPr>
        <p:spPr>
          <a:xfrm>
            <a:off x="9109007" y="3785141"/>
            <a:ext cx="400306" cy="385068"/>
          </a:xfrm>
          <a:prstGeom prst="ellipse">
            <a:avLst/>
          </a:prstGeom>
          <a:solidFill>
            <a:srgbClr val="BFBFBF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025" tIns="40500" rIns="81025" bIns="40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bg1"/>
                </a:solidFill>
                <a:sym typeface="Arial"/>
              </a:rPr>
              <a:t>3</a:t>
            </a:r>
            <a:endParaRPr sz="1800" b="1">
              <a:solidFill>
                <a:schemeClr val="bg1"/>
              </a:solidFill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9109007" y="4752508"/>
            <a:ext cx="400306" cy="385068"/>
          </a:xfrm>
          <a:prstGeom prst="ellipse">
            <a:avLst/>
          </a:prstGeom>
          <a:solidFill>
            <a:srgbClr val="BFBFBF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025" tIns="40500" rIns="81025" bIns="40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bg1"/>
                </a:solidFill>
                <a:sym typeface="Arial"/>
              </a:rPr>
              <a:t>4</a:t>
            </a:r>
            <a:endParaRPr sz="1800" b="1">
              <a:solidFill>
                <a:schemeClr val="bg1"/>
              </a:solidFill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9109007" y="2844842"/>
            <a:ext cx="400306" cy="385068"/>
          </a:xfrm>
          <a:prstGeom prst="ellipse">
            <a:avLst/>
          </a:prstGeom>
          <a:solidFill>
            <a:srgbClr val="BFBFBF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025" tIns="40500" rIns="81025" bIns="40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bg1"/>
                </a:solidFill>
                <a:sym typeface="Arial"/>
              </a:rPr>
              <a:t>2</a:t>
            </a:r>
            <a:endParaRPr sz="1800" b="1">
              <a:solidFill>
                <a:schemeClr val="bg1"/>
              </a:solidFill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9109007" y="5775421"/>
            <a:ext cx="400306" cy="385068"/>
          </a:xfrm>
          <a:prstGeom prst="ellipse">
            <a:avLst/>
          </a:prstGeom>
          <a:solidFill>
            <a:srgbClr val="BFBFBF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025" tIns="40500" rIns="81025" bIns="40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bg1"/>
                </a:solidFill>
                <a:sym typeface="Arial"/>
              </a:rPr>
              <a:t>5</a:t>
            </a:r>
            <a:endParaRPr sz="1800" b="1">
              <a:solidFill>
                <a:schemeClr val="bg1"/>
              </a:solidFill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9109007" y="1955016"/>
            <a:ext cx="400306" cy="385068"/>
          </a:xfrm>
          <a:prstGeom prst="ellipse">
            <a:avLst/>
          </a:prstGeom>
          <a:solidFill>
            <a:srgbClr val="BFBFBF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025" tIns="40500" rIns="81025" bIns="40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bg1"/>
                </a:solidFill>
                <a:sym typeface="Arial"/>
              </a:rPr>
              <a:t>1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307" name="Google Shape;307;p7"/>
          <p:cNvSpPr txBox="1"/>
          <p:nvPr/>
        </p:nvSpPr>
        <p:spPr>
          <a:xfrm>
            <a:off x="6633127" y="1362463"/>
            <a:ext cx="172803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Описание риска</a:t>
            </a:r>
            <a:endParaRPr dirty="0"/>
          </a:p>
        </p:txBody>
      </p:sp>
      <p:sp>
        <p:nvSpPr>
          <p:cNvPr id="313" name="Google Shape;313;p7"/>
          <p:cNvSpPr txBox="1"/>
          <p:nvPr/>
        </p:nvSpPr>
        <p:spPr>
          <a:xfrm>
            <a:off x="9037100" y="1362463"/>
            <a:ext cx="268156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Стратегия нивелирования</a:t>
            </a:r>
            <a:endParaRPr/>
          </a:p>
        </p:txBody>
      </p:sp>
      <p:sp>
        <p:nvSpPr>
          <p:cNvPr id="315" name="Google Shape;315;p7"/>
          <p:cNvSpPr txBox="1"/>
          <p:nvPr/>
        </p:nvSpPr>
        <p:spPr>
          <a:xfrm>
            <a:off x="11224591" y="6381750"/>
            <a:ext cx="605941" cy="287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E5353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400">
              <a:solidFill>
                <a:srgbClr val="E535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286859" y="199368"/>
            <a:ext cx="1842900" cy="3675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2264122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Анализ рынка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4241385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Инициативы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6177083" y="199368"/>
            <a:ext cx="1842809" cy="3674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Риски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8112781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Команда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10048479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Приложения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296;p7"/>
          <p:cNvSpPr/>
          <p:nvPr/>
        </p:nvSpPr>
        <p:spPr>
          <a:xfrm>
            <a:off x="1816702" y="3507961"/>
            <a:ext cx="400306" cy="385068"/>
          </a:xfrm>
          <a:prstGeom prst="ellipse">
            <a:avLst/>
          </a:prstGeom>
          <a:solidFill>
            <a:srgbClr val="FF0000"/>
          </a:solidFill>
          <a:ln w="1905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025" tIns="40500" rIns="81025" bIns="40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bg1"/>
                </a:solidFill>
              </a:rPr>
              <a:t>2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51" name="Google Shape;296;p7"/>
          <p:cNvSpPr/>
          <p:nvPr/>
        </p:nvSpPr>
        <p:spPr>
          <a:xfrm>
            <a:off x="3294426" y="4659823"/>
            <a:ext cx="400306" cy="385068"/>
          </a:xfrm>
          <a:prstGeom prst="ellipse">
            <a:avLst/>
          </a:prstGeom>
          <a:solidFill>
            <a:srgbClr val="FF0000"/>
          </a:solidFill>
          <a:ln w="1905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025" tIns="40500" rIns="81025" bIns="40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bg1"/>
                </a:solidFill>
              </a:rPr>
              <a:t>1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53" name="Google Shape;296;p7"/>
          <p:cNvSpPr/>
          <p:nvPr/>
        </p:nvSpPr>
        <p:spPr>
          <a:xfrm>
            <a:off x="3293146" y="3507961"/>
            <a:ext cx="400306" cy="385068"/>
          </a:xfrm>
          <a:prstGeom prst="ellipse">
            <a:avLst/>
          </a:prstGeom>
          <a:solidFill>
            <a:srgbClr val="FF0000"/>
          </a:solidFill>
          <a:ln w="1905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025" tIns="40500" rIns="81025" bIns="40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bg1"/>
                </a:solidFill>
              </a:rPr>
              <a:t>3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54" name="Google Shape;296;p7"/>
          <p:cNvSpPr/>
          <p:nvPr/>
        </p:nvSpPr>
        <p:spPr>
          <a:xfrm>
            <a:off x="1835789" y="2366908"/>
            <a:ext cx="400306" cy="385068"/>
          </a:xfrm>
          <a:prstGeom prst="ellipse">
            <a:avLst/>
          </a:prstGeom>
          <a:solidFill>
            <a:srgbClr val="FF0000"/>
          </a:solidFill>
          <a:ln w="1905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025" tIns="40500" rIns="81025" bIns="40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bg1"/>
                </a:solidFill>
              </a:rPr>
              <a:t>4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55" name="Google Shape;296;p7"/>
          <p:cNvSpPr/>
          <p:nvPr/>
        </p:nvSpPr>
        <p:spPr>
          <a:xfrm>
            <a:off x="3312233" y="2366908"/>
            <a:ext cx="400306" cy="385068"/>
          </a:xfrm>
          <a:prstGeom prst="ellipse">
            <a:avLst/>
          </a:prstGeom>
          <a:solidFill>
            <a:srgbClr val="FF0000"/>
          </a:solidFill>
          <a:ln w="1905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025" tIns="40500" rIns="81025" bIns="40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bg1"/>
                </a:solidFill>
              </a:rPr>
              <a:t>5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57" name="Google Shape;297;p7"/>
          <p:cNvSpPr txBox="1"/>
          <p:nvPr/>
        </p:nvSpPr>
        <p:spPr>
          <a:xfrm>
            <a:off x="6575433" y="3830352"/>
            <a:ext cx="213834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dirty="0"/>
              <a:t>Подделка наклеек</a:t>
            </a:r>
            <a:endParaRPr dirty="0"/>
          </a:p>
        </p:txBody>
      </p:sp>
      <p:sp>
        <p:nvSpPr>
          <p:cNvPr id="58" name="Google Shape;297;p7"/>
          <p:cNvSpPr txBox="1"/>
          <p:nvPr/>
        </p:nvSpPr>
        <p:spPr>
          <a:xfrm>
            <a:off x="6575433" y="2786392"/>
            <a:ext cx="213834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dirty="0"/>
              <a:t>Высокие затраты </a:t>
            </a:r>
            <a:br>
              <a:rPr lang="ru-RU" dirty="0"/>
            </a:br>
            <a:r>
              <a:rPr lang="ru-RU" dirty="0"/>
              <a:t>на реализацию</a:t>
            </a:r>
            <a:endParaRPr dirty="0"/>
          </a:p>
        </p:txBody>
      </p:sp>
      <p:sp>
        <p:nvSpPr>
          <p:cNvPr id="59" name="Google Shape;297;p7"/>
          <p:cNvSpPr txBox="1"/>
          <p:nvPr/>
        </p:nvSpPr>
        <p:spPr>
          <a:xfrm>
            <a:off x="6575433" y="4571872"/>
            <a:ext cx="2603255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dirty="0"/>
              <a:t>Низкая видимость продукции в </a:t>
            </a:r>
            <a:r>
              <a:rPr lang="ru-RU" dirty="0" err="1"/>
              <a:t>дискаунтерах</a:t>
            </a:r>
            <a:r>
              <a:rPr lang="ru-RU" dirty="0"/>
              <a:t>, снижение имиджа бренда</a:t>
            </a:r>
            <a:endParaRPr dirty="0"/>
          </a:p>
        </p:txBody>
      </p:sp>
      <p:sp>
        <p:nvSpPr>
          <p:cNvPr id="60" name="Google Shape;297;p7"/>
          <p:cNvSpPr txBox="1"/>
          <p:nvPr/>
        </p:nvSpPr>
        <p:spPr>
          <a:xfrm>
            <a:off x="6590792" y="5658514"/>
            <a:ext cx="2603255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dirty="0"/>
              <a:t>Сложности в разработке и продвижении нового продукта</a:t>
            </a:r>
            <a:endParaRPr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196618" y="6399932"/>
            <a:ext cx="3643862" cy="112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Google Shape;297;p7"/>
          <p:cNvSpPr txBox="1"/>
          <p:nvPr/>
        </p:nvSpPr>
        <p:spPr>
          <a:xfrm>
            <a:off x="9573386" y="1686488"/>
            <a:ext cx="213834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dirty="0"/>
              <a:t>Внедрение дополнительных инструментов мотивации</a:t>
            </a:r>
            <a:endParaRPr dirty="0"/>
          </a:p>
        </p:txBody>
      </p:sp>
      <p:sp>
        <p:nvSpPr>
          <p:cNvPr id="68" name="Google Shape;297;p7"/>
          <p:cNvSpPr txBox="1"/>
          <p:nvPr/>
        </p:nvSpPr>
        <p:spPr>
          <a:xfrm>
            <a:off x="9573386" y="3695414"/>
            <a:ext cx="213834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dirty="0"/>
              <a:t>Создание механизмов аутентификации наклеек</a:t>
            </a:r>
            <a:endParaRPr dirty="0"/>
          </a:p>
        </p:txBody>
      </p:sp>
      <p:sp>
        <p:nvSpPr>
          <p:cNvPr id="69" name="Google Shape;297;p7"/>
          <p:cNvSpPr txBox="1"/>
          <p:nvPr/>
        </p:nvSpPr>
        <p:spPr>
          <a:xfrm>
            <a:off x="9573386" y="2802085"/>
            <a:ext cx="213834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dirty="0"/>
              <a:t>Автоматизация процессов и оптимизация затрат</a:t>
            </a:r>
            <a:endParaRPr dirty="0"/>
          </a:p>
        </p:txBody>
      </p:sp>
      <p:sp>
        <p:nvSpPr>
          <p:cNvPr id="70" name="Google Shape;297;p7"/>
          <p:cNvSpPr txBox="1"/>
          <p:nvPr/>
        </p:nvSpPr>
        <p:spPr>
          <a:xfrm>
            <a:off x="9573386" y="4636890"/>
            <a:ext cx="2603255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ru-RU" dirty="0"/>
              <a:t>Установление строгой регламентации места размещения продукции </a:t>
            </a:r>
          </a:p>
        </p:txBody>
      </p:sp>
      <p:sp>
        <p:nvSpPr>
          <p:cNvPr id="71" name="Google Shape;297;p7"/>
          <p:cNvSpPr txBox="1"/>
          <p:nvPr/>
        </p:nvSpPr>
        <p:spPr>
          <a:xfrm>
            <a:off x="9588745" y="5674207"/>
            <a:ext cx="2603255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dirty="0"/>
              <a:t>Проведение маркетинговых исследований для выявления потребностей целевой аудитории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8"/>
          <p:cNvSpPr txBox="1">
            <a:spLocks noGrp="1"/>
          </p:cNvSpPr>
          <p:nvPr>
            <p:ph type="title"/>
          </p:nvPr>
        </p:nvSpPr>
        <p:spPr>
          <a:xfrm>
            <a:off x="838200" y="2722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accent1"/>
              </a:buClr>
              <a:buSzPts val="4000"/>
            </a:pPr>
            <a:r>
              <a:rPr lang="en-US" sz="4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Collective Crew</a:t>
            </a:r>
          </a:p>
        </p:txBody>
      </p:sp>
      <p:pic>
        <p:nvPicPr>
          <p:cNvPr id="4" name="Рисунок 3"/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7" r="9197"/>
          <a:stretch>
            <a:fillRect/>
          </a:stretch>
        </p:blipFill>
        <p:spPr>
          <a:xfrm>
            <a:off x="796925" y="1357313"/>
            <a:ext cx="1824038" cy="2235200"/>
          </a:xfrm>
          <a:prstGeom prst="rect">
            <a:avLst/>
          </a:prstGeom>
          <a:solidFill>
            <a:srgbClr val="4B5261"/>
          </a:solidFill>
          <a:ln>
            <a:noFill/>
          </a:ln>
        </p:spPr>
      </p:pic>
      <p:pic>
        <p:nvPicPr>
          <p:cNvPr id="3" name="Рисунок 2"/>
          <p:cNvPicPr>
            <a:picLocks noGrp="1" noChangeAspect="1"/>
          </p:cNvPicPr>
          <p:nvPr>
            <p:ph type="pic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62" r="9162"/>
          <a:stretch>
            <a:fillRect/>
          </a:stretch>
        </p:blipFill>
        <p:spPr>
          <a:xfrm>
            <a:off x="3748088" y="1357313"/>
            <a:ext cx="1825625" cy="2235200"/>
          </a:xfrm>
          <a:prstGeom prst="rect">
            <a:avLst/>
          </a:prstGeom>
          <a:solidFill>
            <a:srgbClr val="4B5261"/>
          </a:solidFill>
          <a:ln>
            <a:noFill/>
          </a:ln>
        </p:spPr>
      </p:pic>
      <p:pic>
        <p:nvPicPr>
          <p:cNvPr id="2" name="Рисунок 1"/>
          <p:cNvPicPr>
            <a:picLocks noGrp="1" noChangeAspect="1"/>
          </p:cNvPicPr>
          <p:nvPr>
            <p:ph type="pic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5" b="4095"/>
          <a:stretch>
            <a:fillRect/>
          </a:stretch>
        </p:blipFill>
        <p:spPr>
          <a:xfrm>
            <a:off x="6624638" y="1357313"/>
            <a:ext cx="1824037" cy="2235200"/>
          </a:xfrm>
          <a:prstGeom prst="rect">
            <a:avLst/>
          </a:prstGeom>
          <a:solidFill>
            <a:srgbClr val="4B5261"/>
          </a:solidFill>
          <a:ln>
            <a:noFill/>
          </a:ln>
        </p:spPr>
      </p:pic>
      <p:pic>
        <p:nvPicPr>
          <p:cNvPr id="5" name="Рисунок 4"/>
          <p:cNvPicPr>
            <a:picLocks noGrp="1" noChangeAspect="1"/>
          </p:cNvPicPr>
          <p:nvPr>
            <p:ph type="pic" idx="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62" r="9162"/>
          <a:stretch>
            <a:fillRect/>
          </a:stretch>
        </p:blipFill>
        <p:spPr>
          <a:xfrm>
            <a:off x="9575800" y="1357313"/>
            <a:ext cx="1825625" cy="2235200"/>
          </a:xfrm>
          <a:prstGeom prst="rect">
            <a:avLst/>
          </a:prstGeom>
          <a:solidFill>
            <a:srgbClr val="4B5261"/>
          </a:solidFill>
          <a:ln>
            <a:noFill/>
          </a:ln>
        </p:spPr>
      </p:pic>
      <p:sp>
        <p:nvSpPr>
          <p:cNvPr id="331" name="Google Shape;331;p8"/>
          <p:cNvSpPr/>
          <p:nvPr/>
        </p:nvSpPr>
        <p:spPr>
          <a:xfrm>
            <a:off x="1" y="3645024"/>
            <a:ext cx="12191999" cy="3212976"/>
          </a:xfrm>
          <a:prstGeom prst="rect">
            <a:avLst/>
          </a:prstGeom>
          <a:solidFill>
            <a:schemeClr val="bg1">
              <a:lumMod val="95000"/>
              <a:alpha val="619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335360" y="3789040"/>
            <a:ext cx="11529508" cy="7158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 txBox="1"/>
          <p:nvPr/>
        </p:nvSpPr>
        <p:spPr>
          <a:xfrm>
            <a:off x="799144" y="3851676"/>
            <a:ext cx="269450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Гузенко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Сергей</a:t>
            </a:r>
            <a:endParaRPr dirty="0"/>
          </a:p>
        </p:txBody>
      </p:sp>
      <p:sp>
        <p:nvSpPr>
          <p:cNvPr id="334" name="Google Shape;334;p8"/>
          <p:cNvSpPr txBox="1"/>
          <p:nvPr/>
        </p:nvSpPr>
        <p:spPr>
          <a:xfrm>
            <a:off x="357702" y="4504898"/>
            <a:ext cx="269925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dirty="0"/>
              <a:t>sergeyguzenko@bk.ru</a:t>
            </a:r>
            <a:br>
              <a:rPr lang="ru-RU" dirty="0"/>
            </a:br>
            <a:r>
              <a:rPr lang="ru-RU" dirty="0"/>
              <a:t>8 (993) 336-80-95</a:t>
            </a:r>
          </a:p>
        </p:txBody>
      </p:sp>
      <p:sp>
        <p:nvSpPr>
          <p:cNvPr id="335" name="Google Shape;335;p8"/>
          <p:cNvSpPr txBox="1"/>
          <p:nvPr/>
        </p:nvSpPr>
        <p:spPr>
          <a:xfrm>
            <a:off x="3273234" y="4504898"/>
            <a:ext cx="2716375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dirty="0"/>
              <a:t>wladyslawkudinov@gmail.com</a:t>
            </a:r>
            <a:endParaRPr lang="ru-RU" dirty="0"/>
          </a:p>
          <a:p>
            <a:pPr lvl="0"/>
            <a:r>
              <a:rPr lang="ru-RU" dirty="0"/>
              <a:t>8 (908) 785-67-34</a:t>
            </a:r>
            <a:endParaRPr dirty="0"/>
          </a:p>
        </p:txBody>
      </p:sp>
      <p:sp>
        <p:nvSpPr>
          <p:cNvPr id="336" name="Google Shape;336;p8"/>
          <p:cNvSpPr txBox="1"/>
          <p:nvPr/>
        </p:nvSpPr>
        <p:spPr>
          <a:xfrm>
            <a:off x="6211300" y="4504898"/>
            <a:ext cx="271617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dirty="0"/>
              <a:t>almtara550@gmail.com</a:t>
            </a:r>
            <a:endParaRPr lang="ru-RU" dirty="0"/>
          </a:p>
          <a:p>
            <a:pPr lvl="0"/>
            <a:r>
              <a:rPr lang="ru-RU" dirty="0"/>
              <a:t>8 (917) 288-42-36</a:t>
            </a:r>
            <a:endParaRPr dirty="0"/>
          </a:p>
        </p:txBody>
      </p:sp>
      <p:sp>
        <p:nvSpPr>
          <p:cNvPr id="337" name="Google Shape;337;p8"/>
          <p:cNvSpPr txBox="1"/>
          <p:nvPr/>
        </p:nvSpPr>
        <p:spPr>
          <a:xfrm>
            <a:off x="9154114" y="4504898"/>
            <a:ext cx="271617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dianaargasova@gmail.com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(928) 330-46-76</a:t>
            </a:r>
            <a:endParaRPr dirty="0"/>
          </a:p>
        </p:txBody>
      </p:sp>
      <p:sp>
        <p:nvSpPr>
          <p:cNvPr id="338" name="Google Shape;338;p8"/>
          <p:cNvSpPr txBox="1"/>
          <p:nvPr/>
        </p:nvSpPr>
        <p:spPr>
          <a:xfrm>
            <a:off x="3715547" y="3851676"/>
            <a:ext cx="271550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Кудинов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Владислав</a:t>
            </a:r>
            <a:endParaRPr dirty="0"/>
          </a:p>
        </p:txBody>
      </p:sp>
      <p:sp>
        <p:nvSpPr>
          <p:cNvPr id="339" name="Google Shape;339;p8"/>
          <p:cNvSpPr txBox="1"/>
          <p:nvPr/>
        </p:nvSpPr>
        <p:spPr>
          <a:xfrm>
            <a:off x="6652742" y="3851676"/>
            <a:ext cx="271550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Тарасов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Артем</a:t>
            </a:r>
            <a:endParaRPr dirty="0"/>
          </a:p>
        </p:txBody>
      </p:sp>
      <p:sp>
        <p:nvSpPr>
          <p:cNvPr id="340" name="Google Shape;340;p8"/>
          <p:cNvSpPr txBox="1"/>
          <p:nvPr/>
        </p:nvSpPr>
        <p:spPr>
          <a:xfrm>
            <a:off x="9590806" y="3851676"/>
            <a:ext cx="271550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Аргасова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lt1"/>
                </a:solidFill>
              </a:rPr>
              <a:t>Диана</a:t>
            </a:r>
            <a:endParaRPr dirty="0"/>
          </a:p>
        </p:txBody>
      </p:sp>
      <p:sp>
        <p:nvSpPr>
          <p:cNvPr id="341" name="Google Shape;341;p8"/>
          <p:cNvSpPr txBox="1"/>
          <p:nvPr/>
        </p:nvSpPr>
        <p:spPr>
          <a:xfrm>
            <a:off x="357702" y="5070922"/>
            <a:ext cx="269925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b="1" dirty="0">
                <a:solidFill>
                  <a:schemeClr val="dk1"/>
                </a:solidFill>
              </a:rPr>
              <a:t>НИЯУ МИФИ’26</a:t>
            </a:r>
          </a:p>
          <a:p>
            <a:pPr lvl="0"/>
            <a:r>
              <a:rPr lang="ru-RU" dirty="0">
                <a:solidFill>
                  <a:schemeClr val="dk1"/>
                </a:solidFill>
              </a:rPr>
              <a:t>Бизнес-информатика</a:t>
            </a:r>
            <a:endParaRPr dirty="0"/>
          </a:p>
        </p:txBody>
      </p:sp>
      <p:sp>
        <p:nvSpPr>
          <p:cNvPr id="342" name="Google Shape;342;p8"/>
          <p:cNvSpPr txBox="1"/>
          <p:nvPr/>
        </p:nvSpPr>
        <p:spPr>
          <a:xfrm>
            <a:off x="3273234" y="5070922"/>
            <a:ext cx="2716375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b="1" dirty="0">
                <a:solidFill>
                  <a:schemeClr val="dk1"/>
                </a:solidFill>
              </a:rPr>
              <a:t>НИЯУ МИФИ’26 </a:t>
            </a:r>
          </a:p>
          <a:p>
            <a:r>
              <a:rPr lang="ru-RU" dirty="0">
                <a:solidFill>
                  <a:schemeClr val="dk1"/>
                </a:solidFill>
              </a:rPr>
              <a:t>Бизнес-информатика</a:t>
            </a:r>
            <a:endParaRPr lang="ru-RU" dirty="0"/>
          </a:p>
          <a:p>
            <a:pPr lvl="0"/>
            <a:endParaRPr dirty="0"/>
          </a:p>
        </p:txBody>
      </p:sp>
      <p:sp>
        <p:nvSpPr>
          <p:cNvPr id="343" name="Google Shape;343;p8"/>
          <p:cNvSpPr txBox="1"/>
          <p:nvPr/>
        </p:nvSpPr>
        <p:spPr>
          <a:xfrm>
            <a:off x="6211300" y="5070922"/>
            <a:ext cx="315694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b="1" dirty="0">
                <a:solidFill>
                  <a:schemeClr val="dk1"/>
                </a:solidFill>
              </a:rPr>
              <a:t>НИЯУ МИФИ’26</a:t>
            </a:r>
          </a:p>
          <a:p>
            <a:pPr lvl="0"/>
            <a:r>
              <a:rPr lang="ru-RU" dirty="0" err="1">
                <a:solidFill>
                  <a:schemeClr val="dk1"/>
                </a:solidFill>
              </a:rPr>
              <a:t>Информ</a:t>
            </a:r>
            <a:r>
              <a:rPr lang="ru-RU" dirty="0">
                <a:solidFill>
                  <a:schemeClr val="dk1"/>
                </a:solidFill>
              </a:rPr>
              <a:t>. безопасность</a:t>
            </a:r>
            <a:endParaRPr dirty="0"/>
          </a:p>
        </p:txBody>
      </p:sp>
      <p:sp>
        <p:nvSpPr>
          <p:cNvPr id="344" name="Google Shape;344;p8"/>
          <p:cNvSpPr txBox="1"/>
          <p:nvPr/>
        </p:nvSpPr>
        <p:spPr>
          <a:xfrm>
            <a:off x="9154114" y="5070922"/>
            <a:ext cx="2716177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b="1" dirty="0">
                <a:solidFill>
                  <a:schemeClr val="dk1"/>
                </a:solidFill>
              </a:rPr>
              <a:t>НИЯУ МИФИ’26 </a:t>
            </a:r>
          </a:p>
          <a:p>
            <a:r>
              <a:rPr lang="ru-RU" dirty="0">
                <a:solidFill>
                  <a:schemeClr val="dk1"/>
                </a:solidFill>
              </a:rPr>
              <a:t>Бизнес-информатика</a:t>
            </a:r>
            <a:endParaRPr lang="ru-RU" dirty="0"/>
          </a:p>
          <a:p>
            <a:pPr lvl="0"/>
            <a:endParaRPr dirty="0"/>
          </a:p>
        </p:txBody>
      </p:sp>
      <p:sp>
        <p:nvSpPr>
          <p:cNvPr id="345" name="Google Shape;345;p8"/>
          <p:cNvSpPr txBox="1"/>
          <p:nvPr/>
        </p:nvSpPr>
        <p:spPr>
          <a:xfrm>
            <a:off x="357702" y="5636947"/>
            <a:ext cx="2699256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lvl="0" indent="-177800">
              <a:buClr>
                <a:schemeClr val="accent1"/>
              </a:buClr>
              <a:buSzPts val="1820"/>
              <a:buFont typeface="Arial"/>
              <a:buChar char="•"/>
            </a:pPr>
            <a:r>
              <a:rPr lang="ru-RU" dirty="0"/>
              <a:t>Организатор студенческого объединения в вузе</a:t>
            </a:r>
          </a:p>
          <a:p>
            <a:pPr marL="177800" lvl="0" indent="-177800">
              <a:buClr>
                <a:schemeClr val="accent1"/>
              </a:buClr>
              <a:buSzPts val="1820"/>
              <a:buFont typeface="Arial"/>
              <a:buChar char="•"/>
            </a:pPr>
            <a:r>
              <a:rPr lang="ru-RU" dirty="0"/>
              <a:t>Призер </a:t>
            </a:r>
            <a:r>
              <a:rPr lang="ru-RU" dirty="0" err="1"/>
              <a:t>ВсОШ</a:t>
            </a:r>
            <a:r>
              <a:rPr lang="ru-RU" dirty="0"/>
              <a:t> по программированию</a:t>
            </a:r>
            <a:endParaRPr dirty="0"/>
          </a:p>
        </p:txBody>
      </p:sp>
      <p:sp>
        <p:nvSpPr>
          <p:cNvPr id="346" name="Google Shape;346;p8"/>
          <p:cNvSpPr txBox="1"/>
          <p:nvPr/>
        </p:nvSpPr>
        <p:spPr>
          <a:xfrm>
            <a:off x="3273234" y="5636947"/>
            <a:ext cx="3009033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lvl="0" indent="-177800">
              <a:buClr>
                <a:schemeClr val="accent1"/>
              </a:buClr>
              <a:buSzPts val="1820"/>
              <a:buFont typeface="Arial"/>
              <a:buChar char="•"/>
            </a:pPr>
            <a:r>
              <a:rPr lang="ru-RU" dirty="0"/>
              <a:t>Финалист акселератора </a:t>
            </a:r>
            <a:r>
              <a:rPr lang="en-US" dirty="0" err="1"/>
              <a:t>SberZ</a:t>
            </a:r>
            <a:r>
              <a:rPr lang="en-US" dirty="0"/>
              <a:t> 2021-2022</a:t>
            </a:r>
            <a:endParaRPr lang="ru-RU" dirty="0"/>
          </a:p>
          <a:p>
            <a:pPr marL="177800" lvl="0" indent="-177800">
              <a:buClr>
                <a:schemeClr val="accent1"/>
              </a:buClr>
              <a:buSzPts val="1820"/>
              <a:buFont typeface="Arial"/>
              <a:buChar char="•"/>
            </a:pPr>
            <a:r>
              <a:rPr lang="ru-RU" dirty="0"/>
              <a:t>Финалист продуктового </a:t>
            </a:r>
            <a:r>
              <a:rPr lang="ru-RU" dirty="0" err="1"/>
              <a:t>хакатона</a:t>
            </a:r>
            <a:r>
              <a:rPr lang="ru-RU" dirty="0"/>
              <a:t> общества "Знание"</a:t>
            </a:r>
            <a:endParaRPr dirty="0"/>
          </a:p>
        </p:txBody>
      </p:sp>
      <p:sp>
        <p:nvSpPr>
          <p:cNvPr id="347" name="Google Shape;347;p8"/>
          <p:cNvSpPr txBox="1"/>
          <p:nvPr/>
        </p:nvSpPr>
        <p:spPr>
          <a:xfrm>
            <a:off x="6211300" y="5636947"/>
            <a:ext cx="2716177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lvl="0" indent="-177800">
              <a:buClr>
                <a:schemeClr val="accent1"/>
              </a:buClr>
              <a:buSzPts val="1820"/>
              <a:buFont typeface="Arial"/>
              <a:buChar char="•"/>
            </a:pPr>
            <a:r>
              <a:rPr lang="ru-RU" dirty="0">
                <a:solidFill>
                  <a:schemeClr val="dk1"/>
                </a:solidFill>
              </a:rPr>
              <a:t>1/8 финала </a:t>
            </a:r>
            <a:r>
              <a:rPr lang="en-US" dirty="0">
                <a:solidFill>
                  <a:schemeClr val="dk1"/>
                </a:solidFill>
              </a:rPr>
              <a:t>ICPC 2022</a:t>
            </a:r>
            <a:endParaRPr lang="ru-RU" dirty="0">
              <a:solidFill>
                <a:schemeClr val="dk1"/>
              </a:solidFill>
            </a:endParaRPr>
          </a:p>
          <a:p>
            <a:pPr marL="177800" lvl="0" indent="-177800">
              <a:buClr>
                <a:schemeClr val="accent1"/>
              </a:buClr>
              <a:buSzPts val="1820"/>
              <a:buFont typeface="Arial"/>
              <a:buChar char="•"/>
            </a:pPr>
            <a:r>
              <a:rPr lang="ru-RU" dirty="0">
                <a:solidFill>
                  <a:schemeClr val="dk1"/>
                </a:solidFill>
              </a:rPr>
              <a:t>Призёр региональной олимпиады по математике</a:t>
            </a:r>
            <a:endParaRPr dirty="0"/>
          </a:p>
        </p:txBody>
      </p:sp>
      <p:sp>
        <p:nvSpPr>
          <p:cNvPr id="348" name="Google Shape;348;p8"/>
          <p:cNvSpPr txBox="1"/>
          <p:nvPr/>
        </p:nvSpPr>
        <p:spPr>
          <a:xfrm>
            <a:off x="9154114" y="5636947"/>
            <a:ext cx="271617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Arial"/>
              <a:buChar char="•"/>
            </a:pPr>
            <a:r>
              <a:rPr lang="ru-RU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Староста факультета</a:t>
            </a:r>
            <a:endParaRPr dirty="0"/>
          </a:p>
          <a:p>
            <a:pPr marL="177800" lvl="0" indent="-177800">
              <a:buClr>
                <a:schemeClr val="accent1"/>
              </a:buClr>
              <a:buSzPts val="1820"/>
              <a:buFont typeface="Arial"/>
              <a:buChar char="•"/>
            </a:pPr>
            <a:r>
              <a:rPr lang="ru-RU" dirty="0"/>
              <a:t>Призер МОШ по экономике</a:t>
            </a:r>
          </a:p>
        </p:txBody>
      </p:sp>
      <p:cxnSp>
        <p:nvCxnSpPr>
          <p:cNvPr id="349" name="Google Shape;349;p8"/>
          <p:cNvCxnSpPr/>
          <p:nvPr/>
        </p:nvCxnSpPr>
        <p:spPr>
          <a:xfrm>
            <a:off x="357702" y="5049520"/>
            <a:ext cx="1147283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0" name="Google Shape;350;p8"/>
          <p:cNvCxnSpPr/>
          <p:nvPr/>
        </p:nvCxnSpPr>
        <p:spPr>
          <a:xfrm>
            <a:off x="357702" y="5615544"/>
            <a:ext cx="1147283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1" name="Google Shape;351;p8"/>
          <p:cNvSpPr txBox="1"/>
          <p:nvPr/>
        </p:nvSpPr>
        <p:spPr>
          <a:xfrm>
            <a:off x="11224591" y="6381750"/>
            <a:ext cx="605941" cy="287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E5353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>
              <a:solidFill>
                <a:srgbClr val="E535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286859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2264122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Анализ рынка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4241385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Инициативы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6177083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Риски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8112781" y="199368"/>
            <a:ext cx="1842809" cy="3674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Команда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10048479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Приложения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9"/>
          <p:cNvSpPr txBox="1"/>
          <p:nvPr/>
        </p:nvSpPr>
        <p:spPr>
          <a:xfrm>
            <a:off x="334967" y="580634"/>
            <a:ext cx="11522067" cy="669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</a:pPr>
            <a:r>
              <a:rPr lang="ru-RU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Приложение 1. План реализации проекта</a:t>
            </a:r>
            <a:endParaRPr/>
          </a:p>
        </p:txBody>
      </p:sp>
      <p:sp>
        <p:nvSpPr>
          <p:cNvPr id="364" name="Google Shape;364;p9"/>
          <p:cNvSpPr txBox="1"/>
          <p:nvPr/>
        </p:nvSpPr>
        <p:spPr>
          <a:xfrm>
            <a:off x="11224591" y="6381750"/>
            <a:ext cx="605941" cy="287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E5353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400">
              <a:solidFill>
                <a:srgbClr val="E535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9"/>
          <p:cNvCxnSpPr/>
          <p:nvPr/>
        </p:nvCxnSpPr>
        <p:spPr>
          <a:xfrm>
            <a:off x="351674" y="1952628"/>
            <a:ext cx="11093932" cy="0"/>
          </a:xfrm>
          <a:prstGeom prst="straightConnector1">
            <a:avLst/>
          </a:prstGeom>
          <a:noFill/>
          <a:ln w="22225" cap="flat" cmpd="sng">
            <a:solidFill>
              <a:srgbClr val="BFBFB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" name="Google Shape;367;p9"/>
          <p:cNvCxnSpPr/>
          <p:nvPr/>
        </p:nvCxnSpPr>
        <p:spPr>
          <a:xfrm>
            <a:off x="351674" y="2305541"/>
            <a:ext cx="11093932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8" name="Google Shape;368;p9"/>
          <p:cNvCxnSpPr/>
          <p:nvPr/>
        </p:nvCxnSpPr>
        <p:spPr>
          <a:xfrm>
            <a:off x="351674" y="2658454"/>
            <a:ext cx="11093932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9" name="Google Shape;369;p9"/>
          <p:cNvCxnSpPr/>
          <p:nvPr/>
        </p:nvCxnSpPr>
        <p:spPr>
          <a:xfrm>
            <a:off x="351674" y="3011367"/>
            <a:ext cx="11093932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0" name="Google Shape;370;p9"/>
          <p:cNvCxnSpPr/>
          <p:nvPr/>
        </p:nvCxnSpPr>
        <p:spPr>
          <a:xfrm>
            <a:off x="351674" y="3364280"/>
            <a:ext cx="11093932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8" name="Google Shape;378;p9"/>
          <p:cNvSpPr txBox="1"/>
          <p:nvPr/>
        </p:nvSpPr>
        <p:spPr>
          <a:xfrm>
            <a:off x="11013976" y="1718521"/>
            <a:ext cx="7854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690056" y="2042371"/>
            <a:ext cx="2677989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chemeClr val="dk1"/>
                </a:solidFill>
              </a:rPr>
              <a:t>Система бонусов</a:t>
            </a:r>
            <a:endParaRPr sz="1100" b="1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351674" y="1981692"/>
            <a:ext cx="292711" cy="29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690056" y="2395284"/>
            <a:ext cx="2677989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/>
            <a:r>
              <a:rPr lang="ru-RU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Создание </a:t>
            </a:r>
            <a:r>
              <a:rPr lang="ru-RU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комбо</a:t>
            </a:r>
            <a:r>
              <a:rPr lang="ru-RU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-наборов</a:t>
            </a:r>
            <a:endParaRPr sz="1100" b="1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351674" y="2334605"/>
            <a:ext cx="292711" cy="29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83" name="Google Shape;383;p9"/>
          <p:cNvSpPr/>
          <p:nvPr/>
        </p:nvSpPr>
        <p:spPr>
          <a:xfrm>
            <a:off x="690056" y="2748197"/>
            <a:ext cx="2677989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/>
            <a:r>
              <a:rPr lang="ru-RU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Правильная выкладка</a:t>
            </a:r>
            <a:endParaRPr sz="1100" b="1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351674" y="2687518"/>
            <a:ext cx="292711" cy="29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690056" y="3103186"/>
            <a:ext cx="2677989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/>
            <a:r>
              <a:rPr lang="ru-RU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Продажа в </a:t>
            </a:r>
            <a:r>
              <a:rPr lang="ru-RU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дискаунтерах</a:t>
            </a:r>
            <a:endParaRPr sz="1100" b="1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351674" y="3040432"/>
            <a:ext cx="292711" cy="29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 txBox="1"/>
          <p:nvPr/>
        </p:nvSpPr>
        <p:spPr>
          <a:xfrm>
            <a:off x="351674" y="1671564"/>
            <a:ext cx="100553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Инициатива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4" name="Google Shape;404;p9"/>
          <p:cNvCxnSpPr/>
          <p:nvPr/>
        </p:nvCxnSpPr>
        <p:spPr>
          <a:xfrm>
            <a:off x="3710578" y="1686905"/>
            <a:ext cx="0" cy="4502759"/>
          </a:xfrm>
          <a:prstGeom prst="straightConnector1">
            <a:avLst/>
          </a:prstGeom>
          <a:noFill/>
          <a:ln w="9525" cap="flat" cmpd="sng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5" name="Google Shape;405;p9"/>
          <p:cNvCxnSpPr/>
          <p:nvPr/>
        </p:nvCxnSpPr>
        <p:spPr>
          <a:xfrm>
            <a:off x="4051035" y="1686905"/>
            <a:ext cx="0" cy="4502759"/>
          </a:xfrm>
          <a:prstGeom prst="straightConnector1">
            <a:avLst/>
          </a:prstGeom>
          <a:noFill/>
          <a:ln w="9525" cap="flat" cmpd="sng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6" name="Google Shape;406;p9"/>
          <p:cNvCxnSpPr/>
          <p:nvPr/>
        </p:nvCxnSpPr>
        <p:spPr>
          <a:xfrm>
            <a:off x="4393569" y="1686905"/>
            <a:ext cx="0" cy="4502759"/>
          </a:xfrm>
          <a:prstGeom prst="straightConnector1">
            <a:avLst/>
          </a:prstGeom>
          <a:noFill/>
          <a:ln w="9525" cap="flat" cmpd="sng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7" name="Google Shape;407;p9"/>
          <p:cNvCxnSpPr/>
          <p:nvPr/>
        </p:nvCxnSpPr>
        <p:spPr>
          <a:xfrm>
            <a:off x="4734027" y="1686905"/>
            <a:ext cx="0" cy="4502759"/>
          </a:xfrm>
          <a:prstGeom prst="straightConnector1">
            <a:avLst/>
          </a:pr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8" name="Google Shape;408;p9"/>
          <p:cNvCxnSpPr/>
          <p:nvPr/>
        </p:nvCxnSpPr>
        <p:spPr>
          <a:xfrm>
            <a:off x="5417017" y="1686905"/>
            <a:ext cx="0" cy="4502759"/>
          </a:xfrm>
          <a:prstGeom prst="straightConnector1">
            <a:avLst/>
          </a:prstGeom>
          <a:noFill/>
          <a:ln w="9525" cap="flat" cmpd="sng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9" name="Google Shape;409;p9"/>
          <p:cNvCxnSpPr/>
          <p:nvPr/>
        </p:nvCxnSpPr>
        <p:spPr>
          <a:xfrm>
            <a:off x="5759551" y="1686905"/>
            <a:ext cx="0" cy="4502759"/>
          </a:xfrm>
          <a:prstGeom prst="straightConnector1">
            <a:avLst/>
          </a:prstGeom>
          <a:noFill/>
          <a:ln w="9525" cap="flat" cmpd="sng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0" name="Google Shape;410;p9"/>
          <p:cNvCxnSpPr/>
          <p:nvPr/>
        </p:nvCxnSpPr>
        <p:spPr>
          <a:xfrm>
            <a:off x="6100009" y="1686905"/>
            <a:ext cx="0" cy="4502759"/>
          </a:xfrm>
          <a:prstGeom prst="straightConnector1">
            <a:avLst/>
          </a:pr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1" name="Google Shape;411;p9"/>
          <p:cNvCxnSpPr/>
          <p:nvPr/>
        </p:nvCxnSpPr>
        <p:spPr>
          <a:xfrm>
            <a:off x="6782999" y="1686905"/>
            <a:ext cx="0" cy="4502759"/>
          </a:xfrm>
          <a:prstGeom prst="straightConnector1">
            <a:avLst/>
          </a:prstGeom>
          <a:noFill/>
          <a:ln w="9525" cap="flat" cmpd="sng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2" name="Google Shape;412;p9"/>
          <p:cNvCxnSpPr/>
          <p:nvPr/>
        </p:nvCxnSpPr>
        <p:spPr>
          <a:xfrm>
            <a:off x="7125533" y="1686905"/>
            <a:ext cx="0" cy="4502759"/>
          </a:xfrm>
          <a:prstGeom prst="straightConnector1">
            <a:avLst/>
          </a:prstGeom>
          <a:noFill/>
          <a:ln w="9525" cap="flat" cmpd="sng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3" name="Google Shape;413;p9"/>
          <p:cNvCxnSpPr/>
          <p:nvPr/>
        </p:nvCxnSpPr>
        <p:spPr>
          <a:xfrm>
            <a:off x="7465991" y="1686905"/>
            <a:ext cx="0" cy="4502759"/>
          </a:xfrm>
          <a:prstGeom prst="straightConnector1">
            <a:avLst/>
          </a:pr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4" name="Google Shape;414;p9"/>
          <p:cNvCxnSpPr/>
          <p:nvPr/>
        </p:nvCxnSpPr>
        <p:spPr>
          <a:xfrm>
            <a:off x="7806448" y="1686905"/>
            <a:ext cx="0" cy="4502759"/>
          </a:xfrm>
          <a:prstGeom prst="straightConnector1">
            <a:avLst/>
          </a:prstGeom>
          <a:noFill/>
          <a:ln w="9525" cap="flat" cmpd="sng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5" name="Google Shape;415;p9"/>
          <p:cNvCxnSpPr/>
          <p:nvPr/>
        </p:nvCxnSpPr>
        <p:spPr>
          <a:xfrm>
            <a:off x="8489438" y="1686905"/>
            <a:ext cx="0" cy="4502759"/>
          </a:xfrm>
          <a:prstGeom prst="straightConnector1">
            <a:avLst/>
          </a:prstGeom>
          <a:noFill/>
          <a:ln w="9525" cap="flat" cmpd="sng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6" name="Google Shape;416;p9"/>
          <p:cNvCxnSpPr/>
          <p:nvPr/>
        </p:nvCxnSpPr>
        <p:spPr>
          <a:xfrm>
            <a:off x="8831973" y="1686905"/>
            <a:ext cx="0" cy="4502759"/>
          </a:xfrm>
          <a:prstGeom prst="straightConnector1">
            <a:avLst/>
          </a:pr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7" name="Google Shape;417;p9"/>
          <p:cNvCxnSpPr/>
          <p:nvPr/>
        </p:nvCxnSpPr>
        <p:spPr>
          <a:xfrm>
            <a:off x="9172430" y="1686905"/>
            <a:ext cx="0" cy="4502759"/>
          </a:xfrm>
          <a:prstGeom prst="straightConnector1">
            <a:avLst/>
          </a:prstGeom>
          <a:noFill/>
          <a:ln w="9525" cap="flat" cmpd="sng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8" name="Google Shape;418;p9"/>
          <p:cNvCxnSpPr/>
          <p:nvPr/>
        </p:nvCxnSpPr>
        <p:spPr>
          <a:xfrm>
            <a:off x="9514963" y="1686905"/>
            <a:ext cx="0" cy="4502759"/>
          </a:xfrm>
          <a:prstGeom prst="straightConnector1">
            <a:avLst/>
          </a:prstGeom>
          <a:noFill/>
          <a:ln w="9525" cap="flat" cmpd="sng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9" name="Google Shape;419;p9"/>
          <p:cNvCxnSpPr/>
          <p:nvPr/>
        </p:nvCxnSpPr>
        <p:spPr>
          <a:xfrm>
            <a:off x="9855420" y="1686905"/>
            <a:ext cx="0" cy="4502759"/>
          </a:xfrm>
          <a:prstGeom prst="straightConnector1">
            <a:avLst/>
          </a:prstGeom>
          <a:noFill/>
          <a:ln w="9525" cap="flat" cmpd="sng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0" name="Google Shape;420;p9"/>
          <p:cNvCxnSpPr/>
          <p:nvPr/>
        </p:nvCxnSpPr>
        <p:spPr>
          <a:xfrm>
            <a:off x="10197954" y="1686905"/>
            <a:ext cx="0" cy="4502759"/>
          </a:xfrm>
          <a:prstGeom prst="straightConnector1">
            <a:avLst/>
          </a:pr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1" name="Google Shape;421;p9"/>
          <p:cNvCxnSpPr/>
          <p:nvPr/>
        </p:nvCxnSpPr>
        <p:spPr>
          <a:xfrm>
            <a:off x="10540487" y="1686905"/>
            <a:ext cx="0" cy="4502759"/>
          </a:xfrm>
          <a:prstGeom prst="straightConnector1">
            <a:avLst/>
          </a:prstGeom>
          <a:noFill/>
          <a:ln w="9525" cap="flat" cmpd="sng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2" name="Google Shape;422;p9"/>
          <p:cNvCxnSpPr/>
          <p:nvPr/>
        </p:nvCxnSpPr>
        <p:spPr>
          <a:xfrm>
            <a:off x="10880945" y="1686905"/>
            <a:ext cx="0" cy="4502759"/>
          </a:xfrm>
          <a:prstGeom prst="straightConnector1">
            <a:avLst/>
          </a:prstGeom>
          <a:noFill/>
          <a:ln w="9525" cap="flat" cmpd="sng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3" name="Google Shape;423;p9"/>
          <p:cNvSpPr txBox="1"/>
          <p:nvPr/>
        </p:nvSpPr>
        <p:spPr>
          <a:xfrm>
            <a:off x="3784131" y="1407307"/>
            <a:ext cx="57041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Январь</a:t>
            </a:r>
            <a:endParaRPr sz="1300" b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9"/>
          <p:cNvSpPr txBox="1"/>
          <p:nvPr/>
        </p:nvSpPr>
        <p:spPr>
          <a:xfrm>
            <a:off x="3486374" y="1693134"/>
            <a:ext cx="99646" cy="22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25" name="Google Shape;425;p9"/>
          <p:cNvSpPr txBox="1"/>
          <p:nvPr/>
        </p:nvSpPr>
        <p:spPr>
          <a:xfrm>
            <a:off x="3828908" y="1693134"/>
            <a:ext cx="99646" cy="22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26" name="Google Shape;426;p9"/>
          <p:cNvSpPr txBox="1"/>
          <p:nvPr/>
        </p:nvSpPr>
        <p:spPr>
          <a:xfrm>
            <a:off x="4169366" y="1693134"/>
            <a:ext cx="101721" cy="22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27" name="Google Shape;427;p9"/>
          <p:cNvSpPr txBox="1"/>
          <p:nvPr/>
        </p:nvSpPr>
        <p:spPr>
          <a:xfrm>
            <a:off x="4511899" y="1693134"/>
            <a:ext cx="99646" cy="22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428" name="Google Shape;428;p9"/>
          <p:cNvSpPr txBox="1"/>
          <p:nvPr/>
        </p:nvSpPr>
        <p:spPr>
          <a:xfrm>
            <a:off x="4863944" y="1718521"/>
            <a:ext cx="7854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9"/>
          <p:cNvSpPr txBox="1"/>
          <p:nvPr/>
        </p:nvSpPr>
        <p:spPr>
          <a:xfrm>
            <a:off x="5205439" y="1718521"/>
            <a:ext cx="7854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9"/>
          <p:cNvSpPr txBox="1"/>
          <p:nvPr/>
        </p:nvSpPr>
        <p:spPr>
          <a:xfrm>
            <a:off x="5546934" y="1718521"/>
            <a:ext cx="7854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9"/>
          <p:cNvSpPr txBox="1"/>
          <p:nvPr/>
        </p:nvSpPr>
        <p:spPr>
          <a:xfrm>
            <a:off x="5888429" y="1718521"/>
            <a:ext cx="7854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9"/>
          <p:cNvSpPr txBox="1"/>
          <p:nvPr/>
        </p:nvSpPr>
        <p:spPr>
          <a:xfrm>
            <a:off x="6230964" y="1718521"/>
            <a:ext cx="7854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9"/>
          <p:cNvSpPr txBox="1"/>
          <p:nvPr/>
        </p:nvSpPr>
        <p:spPr>
          <a:xfrm>
            <a:off x="6572458" y="1718521"/>
            <a:ext cx="7854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9"/>
          <p:cNvSpPr txBox="1"/>
          <p:nvPr/>
        </p:nvSpPr>
        <p:spPr>
          <a:xfrm>
            <a:off x="6914992" y="1718521"/>
            <a:ext cx="7854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9"/>
          <p:cNvSpPr txBox="1"/>
          <p:nvPr/>
        </p:nvSpPr>
        <p:spPr>
          <a:xfrm>
            <a:off x="7256488" y="1718521"/>
            <a:ext cx="7854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9"/>
          <p:cNvSpPr txBox="1"/>
          <p:nvPr/>
        </p:nvSpPr>
        <p:spPr>
          <a:xfrm>
            <a:off x="7597982" y="1718521"/>
            <a:ext cx="7854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9"/>
          <p:cNvSpPr txBox="1"/>
          <p:nvPr/>
        </p:nvSpPr>
        <p:spPr>
          <a:xfrm>
            <a:off x="7939478" y="1718521"/>
            <a:ext cx="7854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9"/>
          <p:cNvSpPr txBox="1"/>
          <p:nvPr/>
        </p:nvSpPr>
        <p:spPr>
          <a:xfrm>
            <a:off x="8280974" y="1718521"/>
            <a:ext cx="7854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9"/>
          <p:cNvSpPr txBox="1"/>
          <p:nvPr/>
        </p:nvSpPr>
        <p:spPr>
          <a:xfrm>
            <a:off x="8622470" y="1718521"/>
            <a:ext cx="7854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9"/>
          <p:cNvSpPr txBox="1"/>
          <p:nvPr/>
        </p:nvSpPr>
        <p:spPr>
          <a:xfrm>
            <a:off x="8963964" y="1718521"/>
            <a:ext cx="7854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9"/>
          <p:cNvSpPr txBox="1"/>
          <p:nvPr/>
        </p:nvSpPr>
        <p:spPr>
          <a:xfrm>
            <a:off x="9305460" y="1718521"/>
            <a:ext cx="7854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9"/>
          <p:cNvSpPr txBox="1"/>
          <p:nvPr/>
        </p:nvSpPr>
        <p:spPr>
          <a:xfrm>
            <a:off x="9646956" y="1718521"/>
            <a:ext cx="7854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9"/>
          <p:cNvSpPr txBox="1"/>
          <p:nvPr/>
        </p:nvSpPr>
        <p:spPr>
          <a:xfrm>
            <a:off x="9988452" y="1718521"/>
            <a:ext cx="7854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9"/>
          <p:cNvSpPr txBox="1"/>
          <p:nvPr/>
        </p:nvSpPr>
        <p:spPr>
          <a:xfrm>
            <a:off x="10329946" y="1718521"/>
            <a:ext cx="7854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9"/>
          <p:cNvSpPr txBox="1"/>
          <p:nvPr/>
        </p:nvSpPr>
        <p:spPr>
          <a:xfrm>
            <a:off x="10672480" y="1718521"/>
            <a:ext cx="7854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9"/>
          <p:cNvSpPr txBox="1"/>
          <p:nvPr/>
        </p:nvSpPr>
        <p:spPr>
          <a:xfrm>
            <a:off x="5085835" y="1407307"/>
            <a:ext cx="678071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Февраль</a:t>
            </a:r>
            <a:endParaRPr sz="13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9"/>
          <p:cNvSpPr txBox="1"/>
          <p:nvPr/>
        </p:nvSpPr>
        <p:spPr>
          <a:xfrm>
            <a:off x="6567893" y="1407307"/>
            <a:ext cx="400559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Март</a:t>
            </a:r>
            <a:endParaRPr sz="13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9"/>
          <p:cNvSpPr txBox="1"/>
          <p:nvPr/>
        </p:nvSpPr>
        <p:spPr>
          <a:xfrm>
            <a:off x="7876645" y="1407307"/>
            <a:ext cx="565155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Апрель</a:t>
            </a:r>
            <a:endParaRPr sz="13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9"/>
          <p:cNvSpPr txBox="1"/>
          <p:nvPr/>
        </p:nvSpPr>
        <p:spPr>
          <a:xfrm>
            <a:off x="9365021" y="1407307"/>
            <a:ext cx="327269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Май</a:t>
            </a:r>
            <a:endParaRPr sz="13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0" name="Google Shape;450;p9"/>
          <p:cNvCxnSpPr/>
          <p:nvPr/>
        </p:nvCxnSpPr>
        <p:spPr>
          <a:xfrm>
            <a:off x="3368045" y="1433638"/>
            <a:ext cx="0" cy="3407869"/>
          </a:xfrm>
          <a:prstGeom prst="straightConnector1">
            <a:avLst/>
          </a:prstGeom>
          <a:noFill/>
          <a:ln w="22225" cap="flat" cmpd="sng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9"/>
          <p:cNvCxnSpPr/>
          <p:nvPr/>
        </p:nvCxnSpPr>
        <p:spPr>
          <a:xfrm>
            <a:off x="4734027" y="1433638"/>
            <a:ext cx="0" cy="2705225"/>
          </a:xfrm>
          <a:prstGeom prst="straightConnector1">
            <a:avLst/>
          </a:prstGeom>
          <a:noFill/>
          <a:ln w="28575" cap="flat" cmpd="sng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2" name="Google Shape;452;p9"/>
          <p:cNvCxnSpPr/>
          <p:nvPr/>
        </p:nvCxnSpPr>
        <p:spPr>
          <a:xfrm>
            <a:off x="5074603" y="1686905"/>
            <a:ext cx="0" cy="4502759"/>
          </a:xfrm>
          <a:prstGeom prst="straightConnector1">
            <a:avLst/>
          </a:prstGeom>
          <a:noFill/>
          <a:ln w="9525" cap="flat" cmpd="sng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3" name="Google Shape;453;p9"/>
          <p:cNvCxnSpPr/>
          <p:nvPr/>
        </p:nvCxnSpPr>
        <p:spPr>
          <a:xfrm>
            <a:off x="6100009" y="1433638"/>
            <a:ext cx="0" cy="2714850"/>
          </a:xfrm>
          <a:prstGeom prst="straightConnector1">
            <a:avLst/>
          </a:prstGeom>
          <a:noFill/>
          <a:ln w="28575" cap="flat" cmpd="sng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9"/>
          <p:cNvCxnSpPr/>
          <p:nvPr/>
        </p:nvCxnSpPr>
        <p:spPr>
          <a:xfrm>
            <a:off x="6442542" y="1686905"/>
            <a:ext cx="0" cy="4502759"/>
          </a:xfrm>
          <a:prstGeom prst="straightConnector1">
            <a:avLst/>
          </a:prstGeom>
          <a:noFill/>
          <a:ln w="9525" cap="flat" cmpd="sng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9"/>
          <p:cNvCxnSpPr/>
          <p:nvPr/>
        </p:nvCxnSpPr>
        <p:spPr>
          <a:xfrm>
            <a:off x="7465991" y="1433638"/>
            <a:ext cx="0" cy="2714850"/>
          </a:xfrm>
          <a:prstGeom prst="straightConnector1">
            <a:avLst/>
          </a:prstGeom>
          <a:noFill/>
          <a:ln w="28575" cap="flat" cmpd="sng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9"/>
          <p:cNvCxnSpPr/>
          <p:nvPr/>
        </p:nvCxnSpPr>
        <p:spPr>
          <a:xfrm>
            <a:off x="8148981" y="1686905"/>
            <a:ext cx="0" cy="4502759"/>
          </a:xfrm>
          <a:prstGeom prst="straightConnector1">
            <a:avLst/>
          </a:prstGeom>
          <a:noFill/>
          <a:ln w="9525" cap="flat" cmpd="sng">
            <a:solidFill>
              <a:srgbClr val="E2E2E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9"/>
          <p:cNvCxnSpPr/>
          <p:nvPr/>
        </p:nvCxnSpPr>
        <p:spPr>
          <a:xfrm>
            <a:off x="8832584" y="1433638"/>
            <a:ext cx="0" cy="2705225"/>
          </a:xfrm>
          <a:prstGeom prst="straightConnector1">
            <a:avLst/>
          </a:prstGeom>
          <a:noFill/>
          <a:ln w="28575" cap="flat" cmpd="sng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8" name="Google Shape;458;p9"/>
          <p:cNvCxnSpPr/>
          <p:nvPr/>
        </p:nvCxnSpPr>
        <p:spPr>
          <a:xfrm>
            <a:off x="10198438" y="1433638"/>
            <a:ext cx="0" cy="2743726"/>
          </a:xfrm>
          <a:prstGeom prst="straightConnector1">
            <a:avLst/>
          </a:prstGeom>
          <a:noFill/>
          <a:ln w="28575" cap="flat" cmpd="sng">
            <a:solidFill>
              <a:srgbClr val="BFBFB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9" name="Google Shape;459;p9"/>
          <p:cNvSpPr txBox="1"/>
          <p:nvPr/>
        </p:nvSpPr>
        <p:spPr>
          <a:xfrm>
            <a:off x="10675076" y="1407307"/>
            <a:ext cx="423193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Июнь</a:t>
            </a:r>
            <a:endParaRPr sz="1300" b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9"/>
          <p:cNvSpPr/>
          <p:nvPr/>
        </p:nvSpPr>
        <p:spPr>
          <a:xfrm>
            <a:off x="3368045" y="2031515"/>
            <a:ext cx="7784851" cy="190988"/>
          </a:xfrm>
          <a:prstGeom prst="homePlate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9"/>
          <p:cNvSpPr/>
          <p:nvPr/>
        </p:nvSpPr>
        <p:spPr>
          <a:xfrm>
            <a:off x="3363893" y="2737341"/>
            <a:ext cx="2389430" cy="190988"/>
          </a:xfrm>
          <a:prstGeom prst="homePlate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9"/>
          <p:cNvSpPr/>
          <p:nvPr/>
        </p:nvSpPr>
        <p:spPr>
          <a:xfrm>
            <a:off x="3363892" y="3090255"/>
            <a:ext cx="8976275" cy="190988"/>
          </a:xfrm>
          <a:prstGeom prst="homePlate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9"/>
          <p:cNvSpPr/>
          <p:nvPr/>
        </p:nvSpPr>
        <p:spPr>
          <a:xfrm>
            <a:off x="286859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9"/>
          <p:cNvSpPr/>
          <p:nvPr/>
        </p:nvSpPr>
        <p:spPr>
          <a:xfrm>
            <a:off x="2264122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Анализ рынка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9"/>
          <p:cNvSpPr/>
          <p:nvPr/>
        </p:nvSpPr>
        <p:spPr>
          <a:xfrm>
            <a:off x="4241385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Инициативы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9"/>
          <p:cNvSpPr/>
          <p:nvPr/>
        </p:nvSpPr>
        <p:spPr>
          <a:xfrm>
            <a:off x="6177083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Риски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9"/>
          <p:cNvSpPr/>
          <p:nvPr/>
        </p:nvSpPr>
        <p:spPr>
          <a:xfrm>
            <a:off x="8112781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Команда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9"/>
          <p:cNvSpPr/>
          <p:nvPr/>
        </p:nvSpPr>
        <p:spPr>
          <a:xfrm>
            <a:off x="10048479" y="199368"/>
            <a:ext cx="1842809" cy="3674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Приложения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460;p9"/>
          <p:cNvSpPr/>
          <p:nvPr/>
        </p:nvSpPr>
        <p:spPr>
          <a:xfrm>
            <a:off x="3368137" y="2378020"/>
            <a:ext cx="7784851" cy="190988"/>
          </a:xfrm>
          <a:prstGeom prst="homePlate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Прямоугольник 171"/>
          <p:cNvSpPr/>
          <p:nvPr/>
        </p:nvSpPr>
        <p:spPr>
          <a:xfrm>
            <a:off x="196618" y="6399932"/>
            <a:ext cx="3643862" cy="112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0"/>
          <p:cNvSpPr txBox="1"/>
          <p:nvPr/>
        </p:nvSpPr>
        <p:spPr>
          <a:xfrm>
            <a:off x="334967" y="580634"/>
            <a:ext cx="11522067" cy="669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</a:pPr>
            <a:r>
              <a:rPr lang="ru-RU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Приложение 2. Сравнение рассмотренных инициатив</a:t>
            </a:r>
            <a:endParaRPr/>
          </a:p>
        </p:txBody>
      </p:sp>
      <p:sp>
        <p:nvSpPr>
          <p:cNvPr id="484" name="Google Shape;484;p10"/>
          <p:cNvSpPr txBox="1"/>
          <p:nvPr/>
        </p:nvSpPr>
        <p:spPr>
          <a:xfrm>
            <a:off x="11224591" y="6381750"/>
            <a:ext cx="605941" cy="287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E5353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400">
              <a:solidFill>
                <a:srgbClr val="E535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0"/>
          <p:cNvSpPr/>
          <p:nvPr/>
        </p:nvSpPr>
        <p:spPr>
          <a:xfrm>
            <a:off x="286859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0"/>
          <p:cNvSpPr/>
          <p:nvPr/>
        </p:nvSpPr>
        <p:spPr>
          <a:xfrm>
            <a:off x="2264122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Анализ рынка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0"/>
          <p:cNvSpPr/>
          <p:nvPr/>
        </p:nvSpPr>
        <p:spPr>
          <a:xfrm>
            <a:off x="4241385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Инициативы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0"/>
          <p:cNvSpPr/>
          <p:nvPr/>
        </p:nvSpPr>
        <p:spPr>
          <a:xfrm>
            <a:off x="6177083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Риски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0"/>
          <p:cNvSpPr/>
          <p:nvPr/>
        </p:nvSpPr>
        <p:spPr>
          <a:xfrm>
            <a:off x="8112781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Команда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0"/>
          <p:cNvSpPr/>
          <p:nvPr/>
        </p:nvSpPr>
        <p:spPr>
          <a:xfrm>
            <a:off x="10048479" y="199368"/>
            <a:ext cx="1842809" cy="3674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Приложения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Прямоугольник 65"/>
          <p:cNvSpPr/>
          <p:nvPr/>
        </p:nvSpPr>
        <p:spPr>
          <a:xfrm>
            <a:off x="196618" y="6399932"/>
            <a:ext cx="3643862" cy="112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18" y="1972526"/>
            <a:ext cx="11733196" cy="42409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1"/>
          <p:cNvSpPr txBox="1"/>
          <p:nvPr/>
        </p:nvSpPr>
        <p:spPr>
          <a:xfrm>
            <a:off x="334967" y="580634"/>
            <a:ext cx="11522067" cy="669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</a:pPr>
            <a:r>
              <a:rPr lang="ru-RU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Приложение 3. Финансовая модель проекта</a:t>
            </a:r>
            <a:endParaRPr/>
          </a:p>
        </p:txBody>
      </p:sp>
      <p:sp>
        <p:nvSpPr>
          <p:cNvPr id="553" name="Google Shape;553;p11"/>
          <p:cNvSpPr txBox="1"/>
          <p:nvPr/>
        </p:nvSpPr>
        <p:spPr>
          <a:xfrm>
            <a:off x="11224591" y="6381750"/>
            <a:ext cx="605941" cy="287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E5353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400">
              <a:solidFill>
                <a:srgbClr val="E535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1"/>
          <p:cNvSpPr/>
          <p:nvPr/>
        </p:nvSpPr>
        <p:spPr>
          <a:xfrm>
            <a:off x="286859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1"/>
          <p:cNvSpPr/>
          <p:nvPr/>
        </p:nvSpPr>
        <p:spPr>
          <a:xfrm>
            <a:off x="2264122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Анализ рынка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1"/>
          <p:cNvSpPr/>
          <p:nvPr/>
        </p:nvSpPr>
        <p:spPr>
          <a:xfrm>
            <a:off x="4241385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Инициативы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1"/>
          <p:cNvSpPr/>
          <p:nvPr/>
        </p:nvSpPr>
        <p:spPr>
          <a:xfrm>
            <a:off x="6177083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Риски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1"/>
          <p:cNvSpPr/>
          <p:nvPr/>
        </p:nvSpPr>
        <p:spPr>
          <a:xfrm>
            <a:off x="8112781" y="199368"/>
            <a:ext cx="1842809" cy="36741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Команда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1"/>
          <p:cNvSpPr/>
          <p:nvPr/>
        </p:nvSpPr>
        <p:spPr>
          <a:xfrm>
            <a:off x="10048479" y="199368"/>
            <a:ext cx="1842809" cy="3674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Приложения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24100"/>
            <a:ext cx="12267788" cy="4057650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196618" y="6399932"/>
            <a:ext cx="3643862" cy="112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227561" y="1845076"/>
            <a:ext cx="6364318" cy="3782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chemeClr val="accent1"/>
              </a:buClr>
              <a:buSzPts val="1820"/>
            </a:pPr>
            <a:r>
              <a:rPr lang="ru-RU" sz="1800" u="sng" dirty="0"/>
              <a:t>В полном масштабе модель прикреплена во вложениях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ользовательские 11">
      <a:dk1>
        <a:srgbClr val="000000"/>
      </a:dk1>
      <a:lt1>
        <a:srgbClr val="FFFFFF"/>
      </a:lt1>
      <a:dk2>
        <a:srgbClr val="1E2129"/>
      </a:dk2>
      <a:lt2>
        <a:srgbClr val="D6DCDC"/>
      </a:lt2>
      <a:accent1>
        <a:srgbClr val="BD0C1E"/>
      </a:accent1>
      <a:accent2>
        <a:srgbClr val="4B5261"/>
      </a:accent2>
      <a:accent3>
        <a:srgbClr val="D6DCDC"/>
      </a:accent3>
      <a:accent4>
        <a:srgbClr val="1E2129"/>
      </a:accent4>
      <a:accent5>
        <a:srgbClr val="CC66FF"/>
      </a:accent5>
      <a:accent6>
        <a:srgbClr val="FF9933"/>
      </a:accent6>
      <a:hlink>
        <a:srgbClr val="ED2024"/>
      </a:hlink>
      <a:folHlink>
        <a:srgbClr val="BA0F1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1138</Words>
  <Application>Microsoft Office PowerPoint</Application>
  <PresentationFormat>Широкоэкранный</PresentationFormat>
  <Paragraphs>272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 Black</vt:lpstr>
      <vt:lpstr>Calibri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Collective Crew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Решение кейса от  команды  «Название команды»</dc:title>
  <dc:creator>y.zemlyanikin@changellenge.ru</dc:creator>
  <cp:lastModifiedBy>Артём Тарасов</cp:lastModifiedBy>
  <cp:revision>34</cp:revision>
  <dcterms:created xsi:type="dcterms:W3CDTF">2019-11-12T08:58:22Z</dcterms:created>
  <dcterms:modified xsi:type="dcterms:W3CDTF">2023-04-10T08:40:57Z</dcterms:modified>
</cp:coreProperties>
</file>